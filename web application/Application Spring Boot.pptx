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9591" autoAdjust="0"/>
  </p:normalViewPr>
  <p:slideViewPr>
    <p:cSldViewPr snapToGrid="0" snapToObjects="1">
      <p:cViewPr>
        <p:scale>
          <a:sx n="100" d="100"/>
          <a:sy n="100" d="100"/>
        </p:scale>
        <p:origin x="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4629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Spring Boot появился для упрощения Java-разработки.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err="1"/>
              <a:t>Maven</a:t>
            </a:r>
            <a:r>
              <a:rPr lang="ru-RU" dirty="0"/>
              <a:t> решает проблему зависимостей. В pom.xml мы описываем библиотеки.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Главные преимущества Spring Boot: минимальная конфигурация.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Трёхслойная архитектура: </a:t>
            </a:r>
            <a:r>
              <a:rPr lang="ru-RU" dirty="0" err="1"/>
              <a:t>Controller</a:t>
            </a:r>
            <a:r>
              <a:rPr lang="ru-RU" dirty="0"/>
              <a:t> принимает запросы, Service обрабатывает логику, </a:t>
            </a:r>
            <a:r>
              <a:rPr lang="ru-RU" dirty="0" err="1"/>
              <a:t>Repository</a:t>
            </a:r>
            <a:r>
              <a:rPr lang="ru-RU" dirty="0"/>
              <a:t> работает с БД.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err="1"/>
              <a:t>Repository</a:t>
            </a:r>
            <a:r>
              <a:rPr lang="ru-RU" dirty="0"/>
              <a:t> паттерн изолирует работу с базой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Spring Boot использует много шаблонов проектирования.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Spring Boot идеально подходит для </a:t>
            </a:r>
            <a:r>
              <a:rPr lang="ru-RU" dirty="0" err="1"/>
              <a:t>микросервисной</a:t>
            </a:r>
            <a:r>
              <a:rPr lang="ru-RU" dirty="0"/>
              <a:t> архитектуры.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err="1"/>
              <a:t>Eureka</a:t>
            </a:r>
            <a:r>
              <a:rPr lang="ru-RU" dirty="0"/>
              <a:t> помогает сервисам находить друг друга, а Spring </a:t>
            </a:r>
            <a:r>
              <a:rPr lang="ru-RU" dirty="0" err="1"/>
              <a:t>Cloud</a:t>
            </a:r>
            <a:r>
              <a:rPr lang="ru-RU" dirty="0"/>
              <a:t> упрощает маршрутизацию.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Пример простого приложения для списка задач.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Spring Boot удобен, но иногда скрывает детали.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Spring Boot используется в банках, онлайн-сервисах и e-</a:t>
            </a:r>
            <a:r>
              <a:rPr lang="ru-RU" dirty="0" err="1"/>
              <a:t>commerce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/>
              <a:t>Spring Boot — это экосистема для современных приложений.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3.png"/><Relationship Id="rId5" Type="http://schemas.openxmlformats.org/officeDocument/2006/relationships/image" Target="../media/image3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28.png"/><Relationship Id="rId3" Type="http://schemas.openxmlformats.org/officeDocument/2006/relationships/image" Target="../media/image1.png"/><Relationship Id="rId21" Type="http://schemas.openxmlformats.org/officeDocument/2006/relationships/image" Target="../media/image31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17" Type="http://schemas.openxmlformats.org/officeDocument/2006/relationships/image" Target="../media/image27.png"/><Relationship Id="rId25" Type="http://schemas.openxmlformats.org/officeDocument/2006/relationships/image" Target="../media/image3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22.png"/><Relationship Id="rId24" Type="http://schemas.openxmlformats.org/officeDocument/2006/relationships/image" Target="../media/image34.png"/><Relationship Id="rId5" Type="http://schemas.openxmlformats.org/officeDocument/2006/relationships/image" Target="../media/image3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10" Type="http://schemas.openxmlformats.org/officeDocument/2006/relationships/image" Target="../media/image21.png"/><Relationship Id="rId19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14.png"/><Relationship Id="rId22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40.png"/><Relationship Id="rId5" Type="http://schemas.openxmlformats.org/officeDocument/2006/relationships/image" Target="../media/image3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1.png"/><Relationship Id="rId21" Type="http://schemas.openxmlformats.org/officeDocument/2006/relationships/image" Target="../media/image61.png"/><Relationship Id="rId7" Type="http://schemas.openxmlformats.org/officeDocument/2006/relationships/image" Target="../media/image48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3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10" Type="http://schemas.openxmlformats.org/officeDocument/2006/relationships/image" Target="../media/image25.png"/><Relationship Id="rId19" Type="http://schemas.openxmlformats.org/officeDocument/2006/relationships/image" Target="../media/image59.png"/><Relationship Id="rId4" Type="http://schemas.openxmlformats.org/officeDocument/2006/relationships/image" Target="../media/image2.png"/><Relationship Id="rId9" Type="http://schemas.openxmlformats.org/officeDocument/2006/relationships/image" Target="../media/image50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image" Target="../media/image75.png"/><Relationship Id="rId3" Type="http://schemas.openxmlformats.org/officeDocument/2006/relationships/image" Target="../media/image1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3.png"/><Relationship Id="rId15" Type="http://schemas.openxmlformats.org/officeDocument/2006/relationships/image" Target="../media/image25.png"/><Relationship Id="rId10" Type="http://schemas.openxmlformats.org/officeDocument/2006/relationships/image" Target="../media/image72.png"/><Relationship Id="rId4" Type="http://schemas.openxmlformats.org/officeDocument/2006/relationships/image" Target="../media/image67.png"/><Relationship Id="rId9" Type="http://schemas.openxmlformats.org/officeDocument/2006/relationships/image" Target="../media/image71.png"/><Relationship Id="rId14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84.png"/><Relationship Id="rId18" Type="http://schemas.openxmlformats.org/officeDocument/2006/relationships/image" Target="../media/image89.png"/><Relationship Id="rId3" Type="http://schemas.openxmlformats.org/officeDocument/2006/relationships/image" Target="../media/image1.png"/><Relationship Id="rId21" Type="http://schemas.openxmlformats.org/officeDocument/2006/relationships/image" Target="../media/image92.png"/><Relationship Id="rId7" Type="http://schemas.openxmlformats.org/officeDocument/2006/relationships/image" Target="../media/image78.png"/><Relationship Id="rId12" Type="http://schemas.openxmlformats.org/officeDocument/2006/relationships/image" Target="../media/image83.png"/><Relationship Id="rId17" Type="http://schemas.openxmlformats.org/officeDocument/2006/relationships/image" Target="../media/image8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7.png"/><Relationship Id="rId20" Type="http://schemas.openxmlformats.org/officeDocument/2006/relationships/image" Target="../media/image9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11" Type="http://schemas.openxmlformats.org/officeDocument/2006/relationships/image" Target="../media/image82.png"/><Relationship Id="rId24" Type="http://schemas.openxmlformats.org/officeDocument/2006/relationships/image" Target="../media/image95.png"/><Relationship Id="rId5" Type="http://schemas.openxmlformats.org/officeDocument/2006/relationships/image" Target="../media/image3.png"/><Relationship Id="rId15" Type="http://schemas.openxmlformats.org/officeDocument/2006/relationships/image" Target="../media/image86.png"/><Relationship Id="rId23" Type="http://schemas.openxmlformats.org/officeDocument/2006/relationships/image" Target="../media/image94.png"/><Relationship Id="rId10" Type="http://schemas.openxmlformats.org/officeDocument/2006/relationships/image" Target="../media/image81.png"/><Relationship Id="rId19" Type="http://schemas.openxmlformats.org/officeDocument/2006/relationships/image" Target="../media/image90.png"/><Relationship Id="rId4" Type="http://schemas.openxmlformats.org/officeDocument/2006/relationships/image" Target="../media/image76.png"/><Relationship Id="rId9" Type="http://schemas.openxmlformats.org/officeDocument/2006/relationships/image" Target="../media/image80.png"/><Relationship Id="rId14" Type="http://schemas.openxmlformats.org/officeDocument/2006/relationships/image" Target="../media/image85.png"/><Relationship Id="rId22" Type="http://schemas.openxmlformats.org/officeDocument/2006/relationships/image" Target="../media/image9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13" Type="http://schemas.openxmlformats.org/officeDocument/2006/relationships/image" Target="../media/image102.png"/><Relationship Id="rId18" Type="http://schemas.openxmlformats.org/officeDocument/2006/relationships/image" Target="../media/image35.png"/><Relationship Id="rId3" Type="http://schemas.openxmlformats.org/officeDocument/2006/relationships/image" Target="../media/image1.png"/><Relationship Id="rId21" Type="http://schemas.openxmlformats.org/officeDocument/2006/relationships/image" Target="../media/image108.png"/><Relationship Id="rId7" Type="http://schemas.openxmlformats.org/officeDocument/2006/relationships/image" Target="../media/image96.png"/><Relationship Id="rId12" Type="http://schemas.openxmlformats.org/officeDocument/2006/relationships/image" Target="../media/image101.png"/><Relationship Id="rId17" Type="http://schemas.openxmlformats.org/officeDocument/2006/relationships/image" Target="../media/image105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50.png"/><Relationship Id="rId20" Type="http://schemas.openxmlformats.org/officeDocument/2006/relationships/image" Target="../media/image10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00.png"/><Relationship Id="rId5" Type="http://schemas.openxmlformats.org/officeDocument/2006/relationships/image" Target="../media/image3.png"/><Relationship Id="rId15" Type="http://schemas.openxmlformats.org/officeDocument/2006/relationships/image" Target="../media/image104.png"/><Relationship Id="rId10" Type="http://schemas.openxmlformats.org/officeDocument/2006/relationships/image" Target="../media/image99.png"/><Relationship Id="rId19" Type="http://schemas.openxmlformats.org/officeDocument/2006/relationships/image" Target="../media/image106.png"/><Relationship Id="rId4" Type="http://schemas.openxmlformats.org/officeDocument/2006/relationships/image" Target="../media/image2.png"/><Relationship Id="rId9" Type="http://schemas.openxmlformats.org/officeDocument/2006/relationships/image" Target="../media/image98.png"/><Relationship Id="rId14" Type="http://schemas.openxmlformats.org/officeDocument/2006/relationships/image" Target="../media/image10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14.png"/><Relationship Id="rId18" Type="http://schemas.openxmlformats.org/officeDocument/2006/relationships/image" Target="../media/image119.png"/><Relationship Id="rId3" Type="http://schemas.openxmlformats.org/officeDocument/2006/relationships/image" Target="../media/image1.png"/><Relationship Id="rId21" Type="http://schemas.openxmlformats.org/officeDocument/2006/relationships/image" Target="../media/image121.png"/><Relationship Id="rId7" Type="http://schemas.openxmlformats.org/officeDocument/2006/relationships/image" Target="../media/image109.png"/><Relationship Id="rId12" Type="http://schemas.openxmlformats.org/officeDocument/2006/relationships/image" Target="../media/image113.png"/><Relationship Id="rId17" Type="http://schemas.openxmlformats.org/officeDocument/2006/relationships/image" Target="../media/image11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17.png"/><Relationship Id="rId20" Type="http://schemas.openxmlformats.org/officeDocument/2006/relationships/image" Target="../media/image10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12.png"/><Relationship Id="rId5" Type="http://schemas.openxmlformats.org/officeDocument/2006/relationships/image" Target="../media/image3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19" Type="http://schemas.openxmlformats.org/officeDocument/2006/relationships/image" Target="../media/image120.png"/><Relationship Id="rId4" Type="http://schemas.openxmlformats.org/officeDocument/2006/relationships/image" Target="../media/image2.png"/><Relationship Id="rId9" Type="http://schemas.openxmlformats.org/officeDocument/2006/relationships/image" Target="../media/image25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127.png"/><Relationship Id="rId18" Type="http://schemas.openxmlformats.org/officeDocument/2006/relationships/image" Target="../media/image132.png"/><Relationship Id="rId3" Type="http://schemas.openxmlformats.org/officeDocument/2006/relationships/image" Target="../media/image1.png"/><Relationship Id="rId7" Type="http://schemas.openxmlformats.org/officeDocument/2006/relationships/image" Target="../media/image122.png"/><Relationship Id="rId12" Type="http://schemas.openxmlformats.org/officeDocument/2006/relationships/image" Target="../media/image126.png"/><Relationship Id="rId17" Type="http://schemas.openxmlformats.org/officeDocument/2006/relationships/image" Target="../media/image131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30.png"/><Relationship Id="rId20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25.png"/><Relationship Id="rId5" Type="http://schemas.openxmlformats.org/officeDocument/2006/relationships/image" Target="../media/image3.png"/><Relationship Id="rId15" Type="http://schemas.openxmlformats.org/officeDocument/2006/relationships/image" Target="../media/image129.png"/><Relationship Id="rId10" Type="http://schemas.openxmlformats.org/officeDocument/2006/relationships/image" Target="../media/image124.png"/><Relationship Id="rId19" Type="http://schemas.openxmlformats.org/officeDocument/2006/relationships/image" Target="../media/image133.png"/><Relationship Id="rId4" Type="http://schemas.openxmlformats.org/officeDocument/2006/relationships/image" Target="../media/image2.png"/><Relationship Id="rId9" Type="http://schemas.openxmlformats.org/officeDocument/2006/relationships/image" Target="../media/image123.png"/><Relationship Id="rId14" Type="http://schemas.openxmlformats.org/officeDocument/2006/relationships/image" Target="../media/image1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13" Type="http://schemas.openxmlformats.org/officeDocument/2006/relationships/image" Target="../media/image143.png"/><Relationship Id="rId18" Type="http://schemas.openxmlformats.org/officeDocument/2006/relationships/image" Target="../media/image148.png"/><Relationship Id="rId3" Type="http://schemas.openxmlformats.org/officeDocument/2006/relationships/image" Target="../media/image1.png"/><Relationship Id="rId7" Type="http://schemas.openxmlformats.org/officeDocument/2006/relationships/image" Target="../media/image137.png"/><Relationship Id="rId12" Type="http://schemas.openxmlformats.org/officeDocument/2006/relationships/image" Target="../media/image142.png"/><Relationship Id="rId17" Type="http://schemas.openxmlformats.org/officeDocument/2006/relationships/image" Target="../media/image147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6.png"/><Relationship Id="rId11" Type="http://schemas.openxmlformats.org/officeDocument/2006/relationships/image" Target="../media/image141.png"/><Relationship Id="rId5" Type="http://schemas.openxmlformats.org/officeDocument/2006/relationships/image" Target="../media/image3.png"/><Relationship Id="rId15" Type="http://schemas.openxmlformats.org/officeDocument/2006/relationships/image" Target="../media/image145.png"/><Relationship Id="rId10" Type="http://schemas.openxmlformats.org/officeDocument/2006/relationships/image" Target="../media/image140.png"/><Relationship Id="rId19" Type="http://schemas.openxmlformats.org/officeDocument/2006/relationships/image" Target="../media/image149.png"/><Relationship Id="rId4" Type="http://schemas.openxmlformats.org/officeDocument/2006/relationships/image" Target="../media/image135.png"/><Relationship Id="rId9" Type="http://schemas.openxmlformats.org/officeDocument/2006/relationships/image" Target="../media/image139.png"/><Relationship Id="rId14" Type="http://schemas.openxmlformats.org/officeDocument/2006/relationships/image" Target="../media/image1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13" Type="http://schemas.openxmlformats.org/officeDocument/2006/relationships/image" Target="../media/image155.png"/><Relationship Id="rId18" Type="http://schemas.openxmlformats.org/officeDocument/2006/relationships/image" Target="../media/image159.png"/><Relationship Id="rId3" Type="http://schemas.openxmlformats.org/officeDocument/2006/relationships/image" Target="../media/image1.png"/><Relationship Id="rId21" Type="http://schemas.openxmlformats.org/officeDocument/2006/relationships/image" Target="../media/image58.png"/><Relationship Id="rId7" Type="http://schemas.openxmlformats.org/officeDocument/2006/relationships/image" Target="../media/image150.png"/><Relationship Id="rId12" Type="http://schemas.openxmlformats.org/officeDocument/2006/relationships/image" Target="../media/image154.png"/><Relationship Id="rId17" Type="http://schemas.openxmlformats.org/officeDocument/2006/relationships/image" Target="../media/image54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58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53.png"/><Relationship Id="rId5" Type="http://schemas.openxmlformats.org/officeDocument/2006/relationships/image" Target="../media/image3.png"/><Relationship Id="rId15" Type="http://schemas.openxmlformats.org/officeDocument/2006/relationships/image" Target="../media/image157.png"/><Relationship Id="rId23" Type="http://schemas.openxmlformats.org/officeDocument/2006/relationships/image" Target="../media/image163.png"/><Relationship Id="rId10" Type="http://schemas.openxmlformats.org/officeDocument/2006/relationships/image" Target="../media/image25.png"/><Relationship Id="rId19" Type="http://schemas.openxmlformats.org/officeDocument/2006/relationships/image" Target="../media/image160.png"/><Relationship Id="rId4" Type="http://schemas.openxmlformats.org/officeDocument/2006/relationships/image" Target="../media/image2.png"/><Relationship Id="rId9" Type="http://schemas.openxmlformats.org/officeDocument/2006/relationships/image" Target="../media/image152.png"/><Relationship Id="rId14" Type="http://schemas.openxmlformats.org/officeDocument/2006/relationships/image" Target="../media/image156.png"/><Relationship Id="rId22" Type="http://schemas.openxmlformats.org/officeDocument/2006/relationships/image" Target="../media/image16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7.png"/><Relationship Id="rId13" Type="http://schemas.openxmlformats.org/officeDocument/2006/relationships/image" Target="../media/image172.png"/><Relationship Id="rId3" Type="http://schemas.openxmlformats.org/officeDocument/2006/relationships/image" Target="../media/image1.png"/><Relationship Id="rId7" Type="http://schemas.openxmlformats.org/officeDocument/2006/relationships/image" Target="../media/image166.png"/><Relationship Id="rId12" Type="http://schemas.openxmlformats.org/officeDocument/2006/relationships/image" Target="../media/image17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5.png"/><Relationship Id="rId11" Type="http://schemas.openxmlformats.org/officeDocument/2006/relationships/image" Target="../media/image170.png"/><Relationship Id="rId5" Type="http://schemas.openxmlformats.org/officeDocument/2006/relationships/image" Target="../media/image3.png"/><Relationship Id="rId10" Type="http://schemas.openxmlformats.org/officeDocument/2006/relationships/image" Target="../media/image169.png"/><Relationship Id="rId4" Type="http://schemas.openxmlformats.org/officeDocument/2006/relationships/image" Target="../media/image164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8800" y="2609850"/>
            <a:ext cx="914400" cy="914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2711" y="2743761"/>
            <a:ext cx="646578" cy="646579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1650" y="6438900"/>
            <a:ext cx="114300" cy="114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10250" y="6438900"/>
            <a:ext cx="114300" cy="114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38850" y="6438900"/>
            <a:ext cx="114300" cy="1143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7450" y="6438900"/>
            <a:ext cx="114300" cy="114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6050" y="6438900"/>
            <a:ext cx="114300" cy="114300"/>
          </a:xfrm>
          <a:prstGeom prst="rect">
            <a:avLst/>
          </a:prstGeom>
        </p:spPr>
      </p:pic>
      <p:sp>
        <p:nvSpPr>
          <p:cNvPr id="13" name="Text 0"/>
          <p:cNvSpPr/>
          <p:nvPr/>
        </p:nvSpPr>
        <p:spPr>
          <a:xfrm>
            <a:off x="1887490" y="1123950"/>
            <a:ext cx="841687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500"/>
              </a:lnSpc>
              <a:buNone/>
            </a:pPr>
            <a:r>
              <a:rPr lang="en-US" sz="384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Application</a:t>
            </a:r>
            <a:r>
              <a:rPr lang="en-US" sz="3840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</a:t>
            </a:r>
            <a:endParaRPr lang="en-US" sz="3840" dirty="0"/>
          </a:p>
        </p:txBody>
      </p:sp>
      <p:sp>
        <p:nvSpPr>
          <p:cNvPr id="14" name="Text 1"/>
          <p:cNvSpPr/>
          <p:nvPr/>
        </p:nvSpPr>
        <p:spPr>
          <a:xfrm>
            <a:off x="1887490" y="1847850"/>
            <a:ext cx="8416870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646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Web Application</a:t>
            </a:r>
            <a:endParaRPr lang="en-US" sz="1646" dirty="0"/>
          </a:p>
        </p:txBody>
      </p:sp>
      <p:sp>
        <p:nvSpPr>
          <p:cNvPr id="15" name="Text 2"/>
          <p:cNvSpPr/>
          <p:nvPr/>
        </p:nvSpPr>
        <p:spPr>
          <a:xfrm>
            <a:off x="3424245" y="4286250"/>
            <a:ext cx="5343361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380" dirty="0" err="1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Альшаеб</a:t>
            </a:r>
            <a:r>
              <a:rPr lang="ru-RU" sz="138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ru-RU" sz="1380" dirty="0" err="1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Басель</a:t>
            </a:r>
            <a:endParaRPr lang="en-US" sz="1380" dirty="0"/>
          </a:p>
        </p:txBody>
      </p:sp>
      <p:sp>
        <p:nvSpPr>
          <p:cNvPr id="16" name="Text 3"/>
          <p:cNvSpPr/>
          <p:nvPr/>
        </p:nvSpPr>
        <p:spPr>
          <a:xfrm>
            <a:off x="3424245" y="4629150"/>
            <a:ext cx="53433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26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Студент</a:t>
            </a:r>
            <a:endParaRPr lang="en-US" sz="1260" dirty="0"/>
          </a:p>
        </p:txBody>
      </p:sp>
      <p:sp>
        <p:nvSpPr>
          <p:cNvPr id="17" name="Text 4"/>
          <p:cNvSpPr/>
          <p:nvPr/>
        </p:nvSpPr>
        <p:spPr>
          <a:xfrm>
            <a:off x="3424245" y="5124450"/>
            <a:ext cx="5343361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80" dirty="0">
                <a:solidFill>
                  <a:srgbClr val="E5E7EB"/>
                </a:solidFill>
                <a:latin typeface="ui-sans-serif"/>
                <a:ea typeface="ui-sans-serif"/>
                <a:cs typeface="ui-sans-serif" pitchFamily="34" charset="-120"/>
              </a:rPr>
              <a:t>Научный руководитель: к.ф.-</a:t>
            </a:r>
            <a:r>
              <a:rPr lang="en-US" sz="1380" dirty="0" err="1">
                <a:solidFill>
                  <a:srgbClr val="E5E7EB"/>
                </a:solidFill>
                <a:latin typeface="ui-sans-serif"/>
                <a:ea typeface="ui-sans-serif"/>
                <a:cs typeface="ui-sans-serif" pitchFamily="34" charset="-120"/>
              </a:rPr>
              <a:t>м.</a:t>
            </a:r>
            <a:r>
              <a:rPr lang="en-US" sz="1380" dirty="0" err="1">
                <a:solidFill>
                  <a:srgbClr val="E5E7EB"/>
                </a:solidFill>
                <a:latin typeface="ui-sans-serif"/>
                <a:ea typeface="ui-sans-serif"/>
              </a:rPr>
              <a:t>н</a:t>
            </a:r>
            <a:r>
              <a:rPr lang="en-US" sz="1380" dirty="0">
                <a:solidFill>
                  <a:srgbClr val="E5E7EB"/>
                </a:solidFill>
                <a:latin typeface="ui-sans-serif"/>
                <a:ea typeface="ui-sans-serif"/>
              </a:rPr>
              <a:t>. </a:t>
            </a:r>
            <a:r>
              <a:rPr lang="ru-RU" sz="1380" dirty="0">
                <a:solidFill>
                  <a:srgbClr val="E5E7EB"/>
                </a:solidFill>
                <a:latin typeface="ui-sans-serif"/>
                <a:ea typeface="ui-sans-serif"/>
              </a:rPr>
              <a:t>С. С. Сысоев</a:t>
            </a:r>
            <a:endParaRPr lang="en-US" sz="1380" dirty="0">
              <a:solidFill>
                <a:srgbClr val="E5E7EB"/>
              </a:solidFill>
              <a:latin typeface="ui-sans-serif"/>
              <a:ea typeface="ui-sans-serif"/>
            </a:endParaRPr>
          </a:p>
        </p:txBody>
      </p:sp>
      <p:sp>
        <p:nvSpPr>
          <p:cNvPr id="18" name="Text 5"/>
          <p:cNvSpPr/>
          <p:nvPr/>
        </p:nvSpPr>
        <p:spPr>
          <a:xfrm>
            <a:off x="3424245" y="5467350"/>
            <a:ext cx="53433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26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СПБГУ</a:t>
            </a:r>
            <a:endParaRPr lang="en-US" sz="12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600200"/>
            <a:ext cx="4447282" cy="2438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828800"/>
            <a:ext cx="24765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2362200"/>
            <a:ext cx="952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2705100"/>
            <a:ext cx="9525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3048000"/>
            <a:ext cx="9525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3446517"/>
            <a:ext cx="9525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2774" y="2438400"/>
            <a:ext cx="571500" cy="571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5118" y="1600200"/>
            <a:ext cx="4447282" cy="2438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84332" y="1777989"/>
            <a:ext cx="444523" cy="444523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63718" y="236220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63718" y="27051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63718" y="30480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63718" y="339090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4419600"/>
            <a:ext cx="10972800" cy="838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6604" y="4610100"/>
            <a:ext cx="142875" cy="1905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ru-RU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Введение</a:t>
            </a:r>
            <a:endParaRPr lang="en-US" sz="3158" dirty="0"/>
          </a:p>
        </p:txBody>
      </p:sp>
      <p:sp>
        <p:nvSpPr>
          <p:cNvPr id="22" name="Text 1"/>
          <p:cNvSpPr/>
          <p:nvPr/>
        </p:nvSpPr>
        <p:spPr>
          <a:xfrm>
            <a:off x="60960" y="990600"/>
            <a:ext cx="12070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646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Framework vs Spring Boot</a:t>
            </a:r>
            <a:endParaRPr lang="en-US" sz="1646" dirty="0"/>
          </a:p>
        </p:txBody>
      </p:sp>
      <p:sp>
        <p:nvSpPr>
          <p:cNvPr id="23" name="Text 2"/>
          <p:cNvSpPr/>
          <p:nvPr/>
        </p:nvSpPr>
        <p:spPr>
          <a:xfrm>
            <a:off x="1200150" y="1828800"/>
            <a:ext cx="324524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2040" b="1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Framework</a:t>
            </a:r>
            <a:endParaRPr lang="en-US" sz="2040" dirty="0"/>
          </a:p>
        </p:txBody>
      </p:sp>
      <p:sp>
        <p:nvSpPr>
          <p:cNvPr id="24" name="Text 3"/>
          <p:cNvSpPr/>
          <p:nvPr/>
        </p:nvSpPr>
        <p:spPr>
          <a:xfrm>
            <a:off x="1009650" y="2324100"/>
            <a:ext cx="333692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Сложная конфигурация в XML или Java</a:t>
            </a:r>
            <a:endParaRPr lang="en-US" sz="1120" dirty="0"/>
          </a:p>
        </p:txBody>
      </p:sp>
      <p:sp>
        <p:nvSpPr>
          <p:cNvPr id="25" name="Text 4"/>
          <p:cNvSpPr/>
          <p:nvPr/>
        </p:nvSpPr>
        <p:spPr>
          <a:xfrm>
            <a:off x="1009650" y="2667000"/>
            <a:ext cx="2999676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Ручное управление зависимостями</a:t>
            </a:r>
            <a:endParaRPr lang="en-US" sz="1120" dirty="0"/>
          </a:p>
        </p:txBody>
      </p:sp>
      <p:sp>
        <p:nvSpPr>
          <p:cNvPr id="26" name="Text 5"/>
          <p:cNvSpPr/>
          <p:nvPr/>
        </p:nvSpPr>
        <p:spPr>
          <a:xfrm>
            <a:off x="1009650" y="3009900"/>
            <a:ext cx="3818632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Деплой на внешних серверах (</a:t>
            </a: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Tomcat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Jetty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endParaRPr lang="en-US" sz="1120" dirty="0"/>
          </a:p>
        </p:txBody>
      </p:sp>
      <p:sp>
        <p:nvSpPr>
          <p:cNvPr id="27" name="Text 6"/>
          <p:cNvSpPr/>
          <p:nvPr/>
        </p:nvSpPr>
        <p:spPr>
          <a:xfrm>
            <a:off x="1009650" y="3390900"/>
            <a:ext cx="3129171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Медленная разработка и деплой</a:t>
            </a:r>
            <a:endParaRPr lang="en-US" sz="1120" dirty="0"/>
          </a:p>
        </p:txBody>
      </p:sp>
      <p:sp>
        <p:nvSpPr>
          <p:cNvPr id="28" name="Text 7"/>
          <p:cNvSpPr/>
          <p:nvPr/>
        </p:nvSpPr>
        <p:spPr>
          <a:xfrm>
            <a:off x="5925145" y="2533650"/>
            <a:ext cx="628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646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VS</a:t>
            </a:r>
            <a:endParaRPr lang="en-US" sz="1646" dirty="0"/>
          </a:p>
        </p:txBody>
      </p:sp>
      <p:sp>
        <p:nvSpPr>
          <p:cNvPr id="29" name="Text 8"/>
          <p:cNvSpPr/>
          <p:nvPr/>
        </p:nvSpPr>
        <p:spPr>
          <a:xfrm>
            <a:off x="7763768" y="1828800"/>
            <a:ext cx="20941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2040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</a:t>
            </a:r>
            <a:endParaRPr lang="en-US" sz="2040" dirty="0"/>
          </a:p>
        </p:txBody>
      </p:sp>
      <p:sp>
        <p:nvSpPr>
          <p:cNvPr id="30" name="Text 9"/>
          <p:cNvSpPr/>
          <p:nvPr/>
        </p:nvSpPr>
        <p:spPr>
          <a:xfrm>
            <a:off x="7592318" y="2324100"/>
            <a:ext cx="1998911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Упрощенная настройка</a:t>
            </a:r>
            <a:endParaRPr lang="en-US" sz="1120" dirty="0"/>
          </a:p>
        </p:txBody>
      </p:sp>
      <p:sp>
        <p:nvSpPr>
          <p:cNvPr id="31" name="Text 10"/>
          <p:cNvSpPr/>
          <p:nvPr/>
        </p:nvSpPr>
        <p:spPr>
          <a:xfrm>
            <a:off x="7592318" y="2667000"/>
            <a:ext cx="3382432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Автоматическая настройка и значения по умолчанию</a:t>
            </a:r>
            <a:endParaRPr lang="en-US" sz="1120" dirty="0"/>
          </a:p>
        </p:txBody>
      </p:sp>
      <p:sp>
        <p:nvSpPr>
          <p:cNvPr id="32" name="Text 11"/>
          <p:cNvSpPr/>
          <p:nvPr/>
        </p:nvSpPr>
        <p:spPr>
          <a:xfrm>
            <a:off x="7592318" y="3009900"/>
            <a:ext cx="3674165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Встроенные серверы (</a:t>
            </a:r>
            <a:r>
              <a:rPr lang="ru-RU" sz="1120" dirty="0" err="1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Tomcat</a:t>
            </a: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ru-RU" sz="1120" dirty="0" err="1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Jetty</a:t>
            </a: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ru-RU" sz="1120" dirty="0" err="1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Undertow</a:t>
            </a: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</a:t>
            </a:r>
            <a:endParaRPr lang="en-US" sz="1120" dirty="0"/>
          </a:p>
        </p:txBody>
      </p:sp>
      <p:sp>
        <p:nvSpPr>
          <p:cNvPr id="33" name="Text 12"/>
          <p:cNvSpPr/>
          <p:nvPr/>
        </p:nvSpPr>
        <p:spPr>
          <a:xfrm>
            <a:off x="7592318" y="3352800"/>
            <a:ext cx="3341668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Быстрая разработка и 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деплой</a:t>
            </a:r>
            <a:endParaRPr lang="en-US" sz="1120" dirty="0"/>
          </a:p>
        </p:txBody>
      </p:sp>
      <p:sp>
        <p:nvSpPr>
          <p:cNvPr id="34" name="Text 13"/>
          <p:cNvSpPr/>
          <p:nvPr/>
        </p:nvSpPr>
        <p:spPr>
          <a:xfrm>
            <a:off x="762000" y="4572000"/>
            <a:ext cx="1066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38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Основная цель Spring Boot — дать разработчикам возможность быстро создавать готовые к использованию приложения Spring с минимальной настройкой.</a:t>
            </a:r>
            <a:endParaRPr lang="en-US" sz="13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143000"/>
            <a:ext cx="3505200" cy="31623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371600"/>
            <a:ext cx="32385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19050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22479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257175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3400" y="1143000"/>
            <a:ext cx="3505200" cy="3162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1371600"/>
            <a:ext cx="219075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90500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224790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281940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77200" y="1143000"/>
            <a:ext cx="3505200" cy="31623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6414" y="1454139"/>
            <a:ext cx="444523" cy="444523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05800" y="217170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05800" y="27432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05800" y="331470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05800" y="38862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4533900"/>
            <a:ext cx="10972800" cy="12192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2544" y="4686300"/>
            <a:ext cx="609600" cy="609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78756" y="4838700"/>
            <a:ext cx="257175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91420" y="4991100"/>
            <a:ext cx="228600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26507" y="4686300"/>
            <a:ext cx="609600" cy="609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945582" y="4838700"/>
            <a:ext cx="171450" cy="304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42595" y="4991100"/>
            <a:ext cx="228600" cy="304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49492" y="4686300"/>
            <a:ext cx="609600" cy="609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25704" y="4838700"/>
            <a:ext cx="257175" cy="3048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37538" y="4991100"/>
            <a:ext cx="228600" cy="3048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12412" y="4686300"/>
            <a:ext cx="609600" cy="6096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128627" y="4802515"/>
            <a:ext cx="377170" cy="377171"/>
          </a:xfrm>
          <a:prstGeom prst="rect">
            <a:avLst/>
          </a:prstGeom>
        </p:spPr>
      </p:pic>
      <p:sp>
        <p:nvSpPr>
          <p:cNvPr id="34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Maven </a:t>
            </a:r>
            <a:r>
              <a:rPr lang="ru-RU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 зависимости</a:t>
            </a:r>
            <a:endParaRPr lang="en-US" sz="3158" dirty="0"/>
          </a:p>
        </p:txBody>
      </p:sp>
      <p:sp>
        <p:nvSpPr>
          <p:cNvPr id="35" name="Text 1"/>
          <p:cNvSpPr/>
          <p:nvPr/>
        </p:nvSpPr>
        <p:spPr>
          <a:xfrm>
            <a:off x="1276350" y="1390650"/>
            <a:ext cx="9334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Maven</a:t>
            </a:r>
            <a:endParaRPr lang="en-US" sz="1646" dirty="0"/>
          </a:p>
        </p:txBody>
      </p:sp>
      <p:sp>
        <p:nvSpPr>
          <p:cNvPr id="36" name="Text 2"/>
          <p:cNvSpPr/>
          <p:nvPr/>
        </p:nvSpPr>
        <p:spPr>
          <a:xfrm>
            <a:off x="1066800" y="1866900"/>
            <a:ext cx="2504941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Менеджер зависимостей</a:t>
            </a:r>
            <a:endParaRPr lang="en-US" sz="1120" dirty="0"/>
          </a:p>
        </p:txBody>
      </p:sp>
      <p:sp>
        <p:nvSpPr>
          <p:cNvPr id="37" name="Text 3"/>
          <p:cNvSpPr/>
          <p:nvPr/>
        </p:nvSpPr>
        <p:spPr>
          <a:xfrm>
            <a:off x="1066800" y="2209800"/>
            <a:ext cx="28194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Автоматизация загрузки зависимостей</a:t>
            </a:r>
            <a:endParaRPr lang="en-US" sz="1120" dirty="0"/>
          </a:p>
        </p:txBody>
      </p:sp>
      <p:sp>
        <p:nvSpPr>
          <p:cNvPr id="38" name="Text 4"/>
          <p:cNvSpPr/>
          <p:nvPr/>
        </p:nvSpPr>
        <p:spPr>
          <a:xfrm>
            <a:off x="1066800" y="253365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Разработка проекта и управление жизненным циклом</a:t>
            </a:r>
            <a:endParaRPr lang="en-US" sz="1120" dirty="0"/>
          </a:p>
        </p:txBody>
      </p:sp>
      <p:sp>
        <p:nvSpPr>
          <p:cNvPr id="39" name="Text 5"/>
          <p:cNvSpPr/>
          <p:nvPr/>
        </p:nvSpPr>
        <p:spPr>
          <a:xfrm>
            <a:off x="4905375" y="1390650"/>
            <a:ext cx="12207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pom.xml</a:t>
            </a:r>
            <a:endParaRPr lang="en-US" sz="1646" dirty="0"/>
          </a:p>
        </p:txBody>
      </p:sp>
      <p:sp>
        <p:nvSpPr>
          <p:cNvPr id="40" name="Text 6"/>
          <p:cNvSpPr/>
          <p:nvPr/>
        </p:nvSpPr>
        <p:spPr>
          <a:xfrm>
            <a:off x="4800600" y="1866900"/>
            <a:ext cx="2925514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Централизованная конфигурация </a:t>
            </a: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Maven</a:t>
            </a:r>
            <a:endParaRPr lang="en-US" sz="1120" dirty="0"/>
          </a:p>
        </p:txBody>
      </p:sp>
      <p:sp>
        <p:nvSpPr>
          <p:cNvPr id="41" name="Text 7"/>
          <p:cNvSpPr/>
          <p:nvPr/>
        </p:nvSpPr>
        <p:spPr>
          <a:xfrm>
            <a:off x="4800600" y="2209800"/>
            <a:ext cx="28194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Определение зависимостей проекта</a:t>
            </a:r>
            <a:endParaRPr lang="en-US" sz="1120" dirty="0"/>
          </a:p>
        </p:txBody>
      </p:sp>
      <p:sp>
        <p:nvSpPr>
          <p:cNvPr id="42" name="Text 8"/>
          <p:cNvSpPr/>
          <p:nvPr/>
        </p:nvSpPr>
        <p:spPr>
          <a:xfrm>
            <a:off x="4800600" y="2781300"/>
            <a:ext cx="28194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Настройка процессов сборки</a:t>
            </a:r>
            <a:endParaRPr lang="en-US" sz="1120" dirty="0"/>
          </a:p>
        </p:txBody>
      </p:sp>
      <p:sp>
        <p:nvSpPr>
          <p:cNvPr id="43" name="Text 9"/>
          <p:cNvSpPr/>
          <p:nvPr/>
        </p:nvSpPr>
        <p:spPr>
          <a:xfrm>
            <a:off x="8705850" y="1371600"/>
            <a:ext cx="26479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Starters</a:t>
            </a:r>
            <a:endParaRPr lang="en-US" sz="1646" dirty="0"/>
          </a:p>
        </p:txBody>
      </p:sp>
      <p:sp>
        <p:nvSpPr>
          <p:cNvPr id="44" name="Text 10"/>
          <p:cNvSpPr/>
          <p:nvPr/>
        </p:nvSpPr>
        <p:spPr>
          <a:xfrm>
            <a:off x="8534400" y="2133600"/>
            <a:ext cx="28194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Специальные дескрипторы зависимостей</a:t>
            </a:r>
            <a:endParaRPr lang="en-US" sz="1120" dirty="0"/>
          </a:p>
        </p:txBody>
      </p:sp>
      <p:sp>
        <p:nvSpPr>
          <p:cNvPr id="45" name="Text 11"/>
          <p:cNvSpPr/>
          <p:nvPr/>
        </p:nvSpPr>
        <p:spPr>
          <a:xfrm>
            <a:off x="8534400" y="27051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Пакеты общих зависимостей для данного типа приложения</a:t>
            </a:r>
            <a:endParaRPr lang="en-US" sz="1120" dirty="0"/>
          </a:p>
        </p:txBody>
      </p:sp>
      <p:sp>
        <p:nvSpPr>
          <p:cNvPr id="46" name="Text 12"/>
          <p:cNvSpPr/>
          <p:nvPr/>
        </p:nvSpPr>
        <p:spPr>
          <a:xfrm>
            <a:off x="8534400" y="32766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Устраняет необходимость ручного добавления отдельных библиотек</a:t>
            </a:r>
            <a:endParaRPr lang="en-US" sz="1120" dirty="0"/>
          </a:p>
        </p:txBody>
      </p:sp>
      <p:sp>
        <p:nvSpPr>
          <p:cNvPr id="47" name="Text 13"/>
          <p:cNvSpPr/>
          <p:nvPr/>
        </p:nvSpPr>
        <p:spPr>
          <a:xfrm>
            <a:off x="8534400" y="3848100"/>
            <a:ext cx="3019157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Обеспечивает совместимость версий</a:t>
            </a:r>
            <a:endParaRPr lang="en-US" sz="1120" dirty="0"/>
          </a:p>
        </p:txBody>
      </p:sp>
      <p:sp>
        <p:nvSpPr>
          <p:cNvPr id="48" name="Text 14"/>
          <p:cNvSpPr/>
          <p:nvPr/>
        </p:nvSpPr>
        <p:spPr>
          <a:xfrm>
            <a:off x="1049908" y="5372100"/>
            <a:ext cx="11148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Project Setup</a:t>
            </a:r>
            <a:endParaRPr lang="en-US" sz="1120" dirty="0"/>
          </a:p>
        </p:txBody>
      </p:sp>
      <p:sp>
        <p:nvSpPr>
          <p:cNvPr id="49" name="Text 15"/>
          <p:cNvSpPr/>
          <p:nvPr/>
        </p:nvSpPr>
        <p:spPr>
          <a:xfrm>
            <a:off x="3663940" y="5372100"/>
            <a:ext cx="7347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pom.xml</a:t>
            </a:r>
            <a:endParaRPr lang="en-US" sz="1120" dirty="0"/>
          </a:p>
        </p:txBody>
      </p:sp>
      <p:sp>
        <p:nvSpPr>
          <p:cNvPr id="50" name="Text 16"/>
          <p:cNvSpPr/>
          <p:nvPr/>
        </p:nvSpPr>
        <p:spPr>
          <a:xfrm>
            <a:off x="5847926" y="5372100"/>
            <a:ext cx="22128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Dependency Management</a:t>
            </a:r>
            <a:endParaRPr lang="en-US" sz="1120" dirty="0"/>
          </a:p>
        </p:txBody>
      </p:sp>
      <p:sp>
        <p:nvSpPr>
          <p:cNvPr id="51" name="Text 17"/>
          <p:cNvSpPr/>
          <p:nvPr/>
        </p:nvSpPr>
        <p:spPr>
          <a:xfrm>
            <a:off x="9466072" y="5372100"/>
            <a:ext cx="1702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Starters</a:t>
            </a:r>
            <a:endParaRPr lang="en-US" sz="11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562100"/>
            <a:ext cx="3454301" cy="400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5750" y="1790700"/>
            <a:ext cx="762000" cy="762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6250" y="1981200"/>
            <a:ext cx="381000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3862" y="4895850"/>
            <a:ext cx="123825" cy="1905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73573" y="5124450"/>
            <a:ext cx="123825" cy="190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701" y="1562100"/>
            <a:ext cx="3454450" cy="4000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14851" y="1790700"/>
            <a:ext cx="762000" cy="762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05351" y="1981200"/>
            <a:ext cx="381000" cy="381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3215" y="4903470"/>
            <a:ext cx="123825" cy="190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7515" y="4897383"/>
            <a:ext cx="123825" cy="190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27950" y="1562100"/>
            <a:ext cx="3454301" cy="4000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74101" y="1790700"/>
            <a:ext cx="762000" cy="762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664601" y="1981200"/>
            <a:ext cx="381000" cy="381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066" y="4910137"/>
            <a:ext cx="123825" cy="1905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37987" y="4933950"/>
            <a:ext cx="123825" cy="190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58516" y="5895975"/>
            <a:ext cx="152400" cy="1524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ru-RU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Возможности </a:t>
            </a:r>
            <a:r>
              <a:rPr lang="en-US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</a:t>
            </a:r>
            <a:endParaRPr lang="en-US" sz="3158" dirty="0"/>
          </a:p>
        </p:txBody>
      </p:sp>
      <p:sp>
        <p:nvSpPr>
          <p:cNvPr id="23" name="Text 1"/>
          <p:cNvSpPr/>
          <p:nvPr/>
        </p:nvSpPr>
        <p:spPr>
          <a:xfrm>
            <a:off x="60960" y="990600"/>
            <a:ext cx="12070080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3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Возможности, которые делают Spring Boot таким успешным</a:t>
            </a:r>
            <a:endParaRPr lang="en-US" sz="1380" dirty="0"/>
          </a:p>
        </p:txBody>
      </p:sp>
      <p:sp>
        <p:nvSpPr>
          <p:cNvPr id="24" name="Text 2"/>
          <p:cNvSpPr/>
          <p:nvPr/>
        </p:nvSpPr>
        <p:spPr>
          <a:xfrm>
            <a:off x="1002179" y="2705100"/>
            <a:ext cx="2669143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ru-RU" sz="1646" b="1" dirty="0" err="1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Автоконфигурация</a:t>
            </a:r>
            <a:endParaRPr lang="en-US" sz="1646" dirty="0"/>
          </a:p>
        </p:txBody>
      </p:sp>
      <p:sp>
        <p:nvSpPr>
          <p:cNvPr id="25" name="Text 3"/>
          <p:cNvSpPr/>
          <p:nvPr/>
        </p:nvSpPr>
        <p:spPr>
          <a:xfrm>
            <a:off x="838200" y="3124200"/>
            <a:ext cx="2997101" cy="1365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автоматически настраивает ваше приложение Spring на основе JAR-файлов, указанных в </a:t>
            </a: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classpath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 Эта «магия» значительно сокращает объём шаблонного кода конфигурации, который приходится писать разработчикам.</a:t>
            </a:r>
            <a:endParaRPr lang="en-US" sz="1120" dirty="0"/>
          </a:p>
        </p:txBody>
      </p:sp>
      <p:sp>
        <p:nvSpPr>
          <p:cNvPr id="26" name="Text 4"/>
          <p:cNvSpPr/>
          <p:nvPr/>
        </p:nvSpPr>
        <p:spPr>
          <a:xfrm>
            <a:off x="1055787" y="4895850"/>
            <a:ext cx="2723704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Меньше кода, больше внимания бизнес-логике</a:t>
            </a:r>
            <a:endParaRPr lang="en-US" sz="1120" dirty="0"/>
          </a:p>
        </p:txBody>
      </p:sp>
      <p:sp>
        <p:nvSpPr>
          <p:cNvPr id="27" name="Text 5"/>
          <p:cNvSpPr/>
          <p:nvPr/>
        </p:nvSpPr>
        <p:spPr>
          <a:xfrm>
            <a:off x="4826920" y="2705100"/>
            <a:ext cx="2538011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ru-RU" sz="1646" b="1" dirty="0">
                <a:solidFill>
                  <a:srgbClr val="FFA5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Интегрированные серверы</a:t>
            </a:r>
            <a:endParaRPr lang="en-US" sz="1646" dirty="0"/>
          </a:p>
        </p:txBody>
      </p:sp>
      <p:sp>
        <p:nvSpPr>
          <p:cNvPr id="28" name="Text 6"/>
          <p:cNvSpPr/>
          <p:nvPr/>
        </p:nvSpPr>
        <p:spPr>
          <a:xfrm>
            <a:off x="4597301" y="3124200"/>
            <a:ext cx="2997250" cy="1134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включает встроенные серверы, такие как </a:t>
            </a: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Tomcat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Jetty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или </a:t>
            </a: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Undertow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непосредственно в исполняемый JAR-файл. Это устраняет необходимость в установке и настройке отдельного сервера, упрощая деплой.</a:t>
            </a:r>
            <a:endParaRPr lang="en-US" sz="1120" dirty="0"/>
          </a:p>
        </p:txBody>
      </p:sp>
      <p:sp>
        <p:nvSpPr>
          <p:cNvPr id="29" name="Text 7"/>
          <p:cNvSpPr/>
          <p:nvPr/>
        </p:nvSpPr>
        <p:spPr>
          <a:xfrm>
            <a:off x="4986040" y="4895850"/>
            <a:ext cx="2381548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Один </a:t>
            </a:r>
            <a:r>
              <a:rPr lang="en-US" sz="112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JAR-</a:t>
            </a:r>
            <a:r>
              <a:rPr lang="ru-RU" sz="112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файл для всех</a:t>
            </a:r>
            <a:endParaRPr lang="en-US" sz="1120" dirty="0"/>
          </a:p>
        </p:txBody>
      </p:sp>
      <p:sp>
        <p:nvSpPr>
          <p:cNvPr id="30" name="Text 8"/>
          <p:cNvSpPr/>
          <p:nvPr/>
        </p:nvSpPr>
        <p:spPr>
          <a:xfrm>
            <a:off x="8757263" y="2705100"/>
            <a:ext cx="2195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60A5F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Initializr</a:t>
            </a:r>
            <a:endParaRPr lang="en-US" sz="1646" dirty="0"/>
          </a:p>
        </p:txBody>
      </p:sp>
      <p:sp>
        <p:nvSpPr>
          <p:cNvPr id="31" name="Text 9"/>
          <p:cNvSpPr/>
          <p:nvPr/>
        </p:nvSpPr>
        <p:spPr>
          <a:xfrm>
            <a:off x="8356550" y="3124200"/>
            <a:ext cx="299710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Веб-инструмент (</a:t>
            </a:r>
            <a:r>
              <a:rPr lang="ru-RU" sz="1120" dirty="0">
                <a:solidFill>
                  <a:srgbClr val="60A5FA"/>
                </a:solidFill>
                <a:ea typeface="ui-sans-serif" pitchFamily="34" charset="-122"/>
              </a:rPr>
              <a:t>start.spring.io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), который обеспечивает быстрый способ создания структуры проекта Spring Boot со всеми необходимыми зависимостями и конфигурациями, выступая в качестве быстрой отправной точки для новых проектов.</a:t>
            </a:r>
            <a:endParaRPr lang="en-US" sz="1120" dirty="0"/>
          </a:p>
        </p:txBody>
      </p:sp>
      <p:sp>
        <p:nvSpPr>
          <p:cNvPr id="32" name="Text 10"/>
          <p:cNvSpPr/>
          <p:nvPr/>
        </p:nvSpPr>
        <p:spPr>
          <a:xfrm>
            <a:off x="8710166" y="4895850"/>
            <a:ext cx="2451646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Мгновенный старт вашего проекта</a:t>
            </a:r>
            <a:endParaRPr lang="en-US" sz="1120" dirty="0"/>
          </a:p>
        </p:txBody>
      </p:sp>
      <p:sp>
        <p:nvSpPr>
          <p:cNvPr id="33" name="Text 11"/>
          <p:cNvSpPr/>
          <p:nvPr/>
        </p:nvSpPr>
        <p:spPr>
          <a:xfrm>
            <a:off x="60960" y="5867400"/>
            <a:ext cx="1207008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i="1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Эти особенности способствуют популярности Spring Boot как упрощенного и мощного инструмента разработки.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752600"/>
            <a:ext cx="2743200" cy="20193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1943100"/>
            <a:ext cx="457200" cy="457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25" y="2019300"/>
            <a:ext cx="28575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25527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28575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33909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24400" y="1866900"/>
            <a:ext cx="2743200" cy="1790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14900" y="2057400"/>
            <a:ext cx="457200" cy="4572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0625" y="2133600"/>
            <a:ext cx="28575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14900" y="266700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14900" y="29718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14900" y="32766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39200" y="1524000"/>
            <a:ext cx="2743200" cy="2476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29700" y="1714500"/>
            <a:ext cx="4572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58288" y="1790700"/>
            <a:ext cx="200025" cy="304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29700" y="23241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29700" y="2857500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29700" y="33909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169765" y="4305300"/>
            <a:ext cx="609600" cy="6096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388840" y="4457700"/>
            <a:ext cx="171450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930354" y="4305300"/>
            <a:ext cx="609600" cy="609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149429" y="4457700"/>
            <a:ext cx="171450" cy="304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51789" y="4305300"/>
            <a:ext cx="609600" cy="6096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770864" y="4457700"/>
            <a:ext cx="171450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09600" y="5334000"/>
            <a:ext cx="10972800" cy="7620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64977" y="5514975"/>
            <a:ext cx="152400" cy="152400"/>
          </a:xfrm>
          <a:prstGeom prst="rect">
            <a:avLst/>
          </a:prstGeom>
        </p:spPr>
      </p:pic>
      <p:sp>
        <p:nvSpPr>
          <p:cNvPr id="32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ru-RU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Архитектура приложения</a:t>
            </a:r>
            <a:endParaRPr lang="en-US" sz="3158" dirty="0"/>
          </a:p>
        </p:txBody>
      </p:sp>
      <p:sp>
        <p:nvSpPr>
          <p:cNvPr id="33" name="Text 1"/>
          <p:cNvSpPr/>
          <p:nvPr/>
        </p:nvSpPr>
        <p:spPr>
          <a:xfrm>
            <a:off x="60960" y="990600"/>
            <a:ext cx="12070080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ru-RU" sz="1646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Трехуровневая структура</a:t>
            </a:r>
            <a:endParaRPr lang="en-US" sz="1646" dirty="0"/>
          </a:p>
        </p:txBody>
      </p:sp>
      <p:sp>
        <p:nvSpPr>
          <p:cNvPr id="34" name="Text 2"/>
          <p:cNvSpPr/>
          <p:nvPr/>
        </p:nvSpPr>
        <p:spPr>
          <a:xfrm>
            <a:off x="1371600" y="2019300"/>
            <a:ext cx="142035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Controller</a:t>
            </a:r>
            <a:endParaRPr lang="en-US" sz="1646" dirty="0"/>
          </a:p>
        </p:txBody>
      </p:sp>
      <p:sp>
        <p:nvSpPr>
          <p:cNvPr id="35" name="Text 3"/>
          <p:cNvSpPr/>
          <p:nvPr/>
        </p:nvSpPr>
        <p:spPr>
          <a:xfrm>
            <a:off x="1028700" y="2514600"/>
            <a:ext cx="1967805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Обрабатывает </a:t>
            </a: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HTTP-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запросы</a:t>
            </a:r>
            <a:endParaRPr lang="en-US" sz="1120" dirty="0"/>
          </a:p>
        </p:txBody>
      </p:sp>
      <p:sp>
        <p:nvSpPr>
          <p:cNvPr id="36" name="Text 4"/>
          <p:cNvSpPr/>
          <p:nvPr/>
        </p:nvSpPr>
        <p:spPr>
          <a:xfrm>
            <a:off x="1028700" y="28194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Сопоставляет </a:t>
            </a: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URL-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адреса с методами</a:t>
            </a:r>
            <a:endParaRPr lang="en-US" sz="1120" dirty="0"/>
          </a:p>
        </p:txBody>
      </p:sp>
      <p:sp>
        <p:nvSpPr>
          <p:cNvPr id="37" name="Text 5"/>
          <p:cNvSpPr/>
          <p:nvPr/>
        </p:nvSpPr>
        <p:spPr>
          <a:xfrm>
            <a:off x="1028700" y="3352800"/>
            <a:ext cx="1867123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Возвращает ответы</a:t>
            </a:r>
            <a:endParaRPr lang="en-US" sz="1120" dirty="0"/>
          </a:p>
        </p:txBody>
      </p:sp>
      <p:sp>
        <p:nvSpPr>
          <p:cNvPr id="38" name="Text 6"/>
          <p:cNvSpPr/>
          <p:nvPr/>
        </p:nvSpPr>
        <p:spPr>
          <a:xfrm>
            <a:off x="5486400" y="2133600"/>
            <a:ext cx="10454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FFA5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Service</a:t>
            </a:r>
            <a:endParaRPr lang="en-US" sz="1646" dirty="0"/>
          </a:p>
        </p:txBody>
      </p:sp>
      <p:sp>
        <p:nvSpPr>
          <p:cNvPr id="39" name="Text 7"/>
          <p:cNvSpPr/>
          <p:nvPr/>
        </p:nvSpPr>
        <p:spPr>
          <a:xfrm>
            <a:off x="5143500" y="2628900"/>
            <a:ext cx="2191271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Содержит бизнес-логику</a:t>
            </a:r>
            <a:endParaRPr lang="en-US" sz="1120" dirty="0"/>
          </a:p>
        </p:txBody>
      </p:sp>
      <p:sp>
        <p:nvSpPr>
          <p:cNvPr id="40" name="Text 8"/>
          <p:cNvSpPr/>
          <p:nvPr/>
        </p:nvSpPr>
        <p:spPr>
          <a:xfrm>
            <a:off x="5143500" y="2933700"/>
            <a:ext cx="2056046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Организует операции</a:t>
            </a:r>
            <a:endParaRPr lang="en-US" sz="1120" dirty="0"/>
          </a:p>
        </p:txBody>
      </p:sp>
      <p:sp>
        <p:nvSpPr>
          <p:cNvPr id="41" name="Text 9"/>
          <p:cNvSpPr/>
          <p:nvPr/>
        </p:nvSpPr>
        <p:spPr>
          <a:xfrm>
            <a:off x="5143500" y="3238500"/>
            <a:ext cx="1779374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Управляет транзакциями</a:t>
            </a:r>
            <a:endParaRPr lang="en-US" sz="1120" dirty="0"/>
          </a:p>
        </p:txBody>
      </p:sp>
      <p:sp>
        <p:nvSpPr>
          <p:cNvPr id="42" name="Text 10"/>
          <p:cNvSpPr/>
          <p:nvPr/>
        </p:nvSpPr>
        <p:spPr>
          <a:xfrm>
            <a:off x="9601200" y="1790700"/>
            <a:ext cx="153380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3C5F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Repository</a:t>
            </a:r>
            <a:endParaRPr lang="en-US" sz="1646" dirty="0"/>
          </a:p>
        </p:txBody>
      </p:sp>
      <p:sp>
        <p:nvSpPr>
          <p:cNvPr id="43" name="Text 11"/>
          <p:cNvSpPr/>
          <p:nvPr/>
        </p:nvSpPr>
        <p:spPr>
          <a:xfrm>
            <a:off x="9258300" y="2286000"/>
            <a:ext cx="21336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Взаимодействует с базой данных</a:t>
            </a:r>
            <a:endParaRPr lang="en-US" sz="1120" dirty="0">
              <a:solidFill>
                <a:srgbClr val="D1D5DB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 algn="l">
              <a:lnSpc>
                <a:spcPts val="1800"/>
              </a:lnSpc>
              <a:buNone/>
            </a:pPr>
            <a:endParaRPr lang="en-US" sz="1120" dirty="0"/>
          </a:p>
        </p:txBody>
      </p:sp>
      <p:sp>
        <p:nvSpPr>
          <p:cNvPr id="44" name="Text 12"/>
          <p:cNvSpPr/>
          <p:nvPr/>
        </p:nvSpPr>
        <p:spPr>
          <a:xfrm>
            <a:off x="9258300" y="2819400"/>
            <a:ext cx="21336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Выполняет операции </a:t>
            </a: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CRUD</a:t>
            </a:r>
          </a:p>
          <a:p>
            <a:pPr marL="0" indent="0" algn="l">
              <a:lnSpc>
                <a:spcPts val="1800"/>
              </a:lnSpc>
              <a:buNone/>
            </a:pPr>
            <a:endParaRPr lang="en-US" sz="1120" dirty="0"/>
          </a:p>
        </p:txBody>
      </p:sp>
      <p:sp>
        <p:nvSpPr>
          <p:cNvPr id="45" name="Text 13"/>
          <p:cNvSpPr/>
          <p:nvPr/>
        </p:nvSpPr>
        <p:spPr>
          <a:xfrm>
            <a:off x="9258300" y="3352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Сопоставляет объекты со строками базы данных</a:t>
            </a:r>
            <a:endParaRPr lang="en-US" sz="1120" dirty="0"/>
          </a:p>
        </p:txBody>
      </p:sp>
      <p:sp>
        <p:nvSpPr>
          <p:cNvPr id="46" name="Text 14"/>
          <p:cNvSpPr/>
          <p:nvPr/>
        </p:nvSpPr>
        <p:spPr>
          <a:xfrm>
            <a:off x="1892900" y="4953000"/>
            <a:ext cx="1163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HTTP Request</a:t>
            </a:r>
            <a:endParaRPr lang="en-US" sz="1120" dirty="0"/>
          </a:p>
        </p:txBody>
      </p:sp>
      <p:sp>
        <p:nvSpPr>
          <p:cNvPr id="47" name="Text 15"/>
          <p:cNvSpPr/>
          <p:nvPr/>
        </p:nvSpPr>
        <p:spPr>
          <a:xfrm>
            <a:off x="5619765" y="4953000"/>
            <a:ext cx="12307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Business Logic</a:t>
            </a:r>
            <a:endParaRPr lang="en-US" sz="1120" dirty="0"/>
          </a:p>
        </p:txBody>
      </p:sp>
      <p:sp>
        <p:nvSpPr>
          <p:cNvPr id="48" name="Text 16"/>
          <p:cNvSpPr/>
          <p:nvPr/>
        </p:nvSpPr>
        <p:spPr>
          <a:xfrm>
            <a:off x="9427994" y="4953000"/>
            <a:ext cx="857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JDBC/ORM</a:t>
            </a:r>
            <a:endParaRPr lang="en-US" sz="1120" dirty="0"/>
          </a:p>
        </p:txBody>
      </p:sp>
      <p:sp>
        <p:nvSpPr>
          <p:cNvPr id="49" name="Text 17"/>
          <p:cNvSpPr/>
          <p:nvPr/>
        </p:nvSpPr>
        <p:spPr>
          <a:xfrm>
            <a:off x="762000" y="5486400"/>
            <a:ext cx="106680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Трехуровневая структура способствует разделению задач и удобству обслуживания приложения за счет четкого определения обязанностей каждого компонента.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13435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47675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524000"/>
            <a:ext cx="10972800" cy="857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676400"/>
            <a:ext cx="17145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609850"/>
            <a:ext cx="5372100" cy="407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2800350"/>
            <a:ext cx="285750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" y="3829050"/>
            <a:ext cx="4991100" cy="1828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" y="5838825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10300" y="2609850"/>
            <a:ext cx="5372100" cy="407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26514" y="2764165"/>
            <a:ext cx="377171" cy="377171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4057650"/>
            <a:ext cx="4991100" cy="1828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6067425"/>
            <a:ext cx="152400" cy="1524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Repository and Database</a:t>
            </a:r>
            <a:endParaRPr lang="en-US" sz="3158" dirty="0"/>
          </a:p>
        </p:txBody>
      </p:sp>
      <p:sp>
        <p:nvSpPr>
          <p:cNvPr id="17" name="Text 1"/>
          <p:cNvSpPr/>
          <p:nvPr/>
        </p:nvSpPr>
        <p:spPr>
          <a:xfrm>
            <a:off x="60960" y="990600"/>
            <a:ext cx="12070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646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JDBC vs Spring Data JPA</a:t>
            </a:r>
            <a:endParaRPr lang="en-US" sz="1646" dirty="0"/>
          </a:p>
        </p:txBody>
      </p:sp>
      <p:sp>
        <p:nvSpPr>
          <p:cNvPr id="18" name="Text 2"/>
          <p:cNvSpPr/>
          <p:nvPr/>
        </p:nvSpPr>
        <p:spPr>
          <a:xfrm>
            <a:off x="1009650" y="1676400"/>
            <a:ext cx="10668000" cy="5139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ru-RU" sz="126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Паттерн «</a:t>
            </a:r>
            <a:r>
              <a:rPr lang="en-US" sz="126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Repository</a:t>
            </a:r>
            <a:r>
              <a:rPr lang="ru-RU" sz="126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» представляет собой уровень абстракции, который отделяет бизнес-логику от операций с базой данных, что упрощает разработку и обслуживание приложений.</a:t>
            </a:r>
            <a:endParaRPr lang="en-US" sz="1260" dirty="0"/>
          </a:p>
        </p:txBody>
      </p:sp>
      <p:sp>
        <p:nvSpPr>
          <p:cNvPr id="19" name="Text 3"/>
          <p:cNvSpPr/>
          <p:nvPr/>
        </p:nvSpPr>
        <p:spPr>
          <a:xfrm>
            <a:off x="1200150" y="2800350"/>
            <a:ext cx="48816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JDBC (Java Database Connectivity)</a:t>
            </a:r>
            <a:endParaRPr lang="en-US" sz="1646" dirty="0"/>
          </a:p>
        </p:txBody>
      </p:sp>
      <p:sp>
        <p:nvSpPr>
          <p:cNvPr id="20" name="Text 4"/>
          <p:cNvSpPr/>
          <p:nvPr/>
        </p:nvSpPr>
        <p:spPr>
          <a:xfrm>
            <a:off x="800100" y="3257550"/>
            <a:ext cx="4991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Низкоуровневый API для взаимодействия с базами данных, требующий шаблонного кода для выполнения стандартных операций.</a:t>
            </a:r>
            <a:endParaRPr lang="en-US" sz="1120" dirty="0"/>
          </a:p>
        </p:txBody>
      </p:sp>
      <p:sp>
        <p:nvSpPr>
          <p:cNvPr id="21" name="Text 5"/>
          <p:cNvSpPr/>
          <p:nvPr/>
        </p:nvSpPr>
        <p:spPr>
          <a:xfrm>
            <a:off x="952500" y="4000500"/>
            <a:ext cx="7762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D1D5DB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Connection conn = DriverManager.getConnection("jdbc:mysql://localhost/mydb", "user", "password");</a:t>
            </a:r>
            <a:endParaRPr lang="en-US" sz="980" dirty="0"/>
          </a:p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D1D5DB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PreparedStatement ps = conn.prepareStatement("SELECT * FROM users WHERE id = ?");</a:t>
            </a:r>
            <a:endParaRPr lang="en-US" sz="980" dirty="0"/>
          </a:p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D1D5DB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ps.setLong(1, userId);</a:t>
            </a:r>
            <a:endParaRPr lang="en-US" sz="980" dirty="0"/>
          </a:p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D1D5DB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ResultSet rs = ps.executeQuery();</a:t>
            </a:r>
            <a:endParaRPr lang="en-US" sz="980" dirty="0"/>
          </a:p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D1D5DB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// ... process ResultSet ...</a:t>
            </a:r>
            <a:endParaRPr lang="en-US" sz="980" dirty="0"/>
          </a:p>
        </p:txBody>
      </p:sp>
      <p:sp>
        <p:nvSpPr>
          <p:cNvPr id="22" name="Text 6"/>
          <p:cNvSpPr/>
          <p:nvPr/>
        </p:nvSpPr>
        <p:spPr>
          <a:xfrm>
            <a:off x="1028700" y="5810250"/>
            <a:ext cx="549021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F8717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Большой объем кода для простых операций</a:t>
            </a:r>
            <a:endParaRPr lang="en-US" sz="1120" dirty="0"/>
          </a:p>
        </p:txBody>
      </p:sp>
      <p:sp>
        <p:nvSpPr>
          <p:cNvPr id="23" name="Text 7"/>
          <p:cNvSpPr/>
          <p:nvPr/>
        </p:nvSpPr>
        <p:spPr>
          <a:xfrm>
            <a:off x="6743700" y="2800350"/>
            <a:ext cx="2223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Data JPA</a:t>
            </a:r>
            <a:endParaRPr lang="en-US" sz="1646" dirty="0"/>
          </a:p>
        </p:txBody>
      </p:sp>
      <p:sp>
        <p:nvSpPr>
          <p:cNvPr id="24" name="Text 8"/>
          <p:cNvSpPr/>
          <p:nvPr/>
        </p:nvSpPr>
        <p:spPr>
          <a:xfrm>
            <a:off x="6400800" y="3257550"/>
            <a:ext cx="49911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Абстракция более высокого уровня, позволяющая разработчикам определять интерфейсы доступа к данным с меньшим объемом кода.</a:t>
            </a:r>
            <a:endParaRPr lang="en-US" sz="1120" dirty="0"/>
          </a:p>
        </p:txBody>
      </p:sp>
      <p:sp>
        <p:nvSpPr>
          <p:cNvPr id="25" name="Text 9"/>
          <p:cNvSpPr/>
          <p:nvPr/>
        </p:nvSpPr>
        <p:spPr>
          <a:xfrm>
            <a:off x="6553200" y="4229100"/>
            <a:ext cx="5361682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E5E7EB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public interface UserRepository extends JpaRepository&lt;User, Long&gt; {</a:t>
            </a:r>
            <a:endParaRPr lang="en-US" sz="980" dirty="0"/>
          </a:p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E5E7EB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    // Méthode de requête personnalisée</a:t>
            </a:r>
            <a:endParaRPr lang="en-US" sz="980" dirty="0"/>
          </a:p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E5E7EB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    List&lt;User&gt; findByLastName(String lastName);</a:t>
            </a:r>
            <a:endParaRPr lang="en-US" sz="980" dirty="0"/>
          </a:p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E5E7EB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}</a:t>
            </a:r>
            <a:endParaRPr lang="en-US" sz="980" dirty="0"/>
          </a:p>
        </p:txBody>
      </p:sp>
      <p:sp>
        <p:nvSpPr>
          <p:cNvPr id="26" name="Text 10"/>
          <p:cNvSpPr/>
          <p:nvPr/>
        </p:nvSpPr>
        <p:spPr>
          <a:xfrm>
            <a:off x="6629400" y="6038850"/>
            <a:ext cx="49911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Автоматическая генерация реализаций для обычны</a:t>
            </a:r>
            <a:r>
              <a:rPr lang="en-US" sz="1120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 </a:t>
            </a:r>
            <a:r>
              <a:rPr lang="ru-RU" sz="1120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операций CRUD</a:t>
            </a:r>
            <a:endParaRPr lang="en-US" sz="1120" dirty="0"/>
          </a:p>
        </p:txBody>
      </p:sp>
      <p:sp>
        <p:nvSpPr>
          <p:cNvPr id="27" name="Text 11"/>
          <p:cNvSpPr/>
          <p:nvPr/>
        </p:nvSpPr>
        <p:spPr>
          <a:xfrm>
            <a:off x="762000" y="7067550"/>
            <a:ext cx="106680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Data JPA значительно сокращает объем кода, необходимого для доступа к данным, тем самым оптимизируя разработку и снижая риск ошибок.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533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6957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485900"/>
            <a:ext cx="10972800" cy="533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5171" y="1666875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247900"/>
            <a:ext cx="3505200" cy="2286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2514600"/>
            <a:ext cx="422970" cy="457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7285" y="2590800"/>
            <a:ext cx="228600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" y="3981450"/>
            <a:ext cx="133350" cy="1333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" y="4171950"/>
            <a:ext cx="133350" cy="1333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43400" y="2247900"/>
            <a:ext cx="3505200" cy="2286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33900" y="2438400"/>
            <a:ext cx="457200" cy="457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48200" y="2514600"/>
            <a:ext cx="22860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3900" y="3829050"/>
            <a:ext cx="133350" cy="1333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3900" y="4019550"/>
            <a:ext cx="133350" cy="1333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77200" y="2247900"/>
            <a:ext cx="3505200" cy="2286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7700" y="2438400"/>
            <a:ext cx="4572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67712" y="2514600"/>
            <a:ext cx="257175" cy="304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67700" y="3829050"/>
            <a:ext cx="133350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67700" y="4019550"/>
            <a:ext cx="133350" cy="1333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4762500"/>
            <a:ext cx="3505200" cy="2133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0100" y="4953000"/>
            <a:ext cx="457200" cy="457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8688" y="5029200"/>
            <a:ext cx="200025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" y="634365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" y="6534150"/>
            <a:ext cx="133350" cy="13335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43400" y="4762500"/>
            <a:ext cx="3505200" cy="21336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33900" y="4953000"/>
            <a:ext cx="457200" cy="457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648200" y="5029200"/>
            <a:ext cx="228600" cy="3048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3900" y="6343650"/>
            <a:ext cx="133350" cy="1333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3900" y="6534150"/>
            <a:ext cx="133350" cy="1333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77200" y="4762500"/>
            <a:ext cx="3505200" cy="2133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267700" y="4953000"/>
            <a:ext cx="457200" cy="4572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07714" y="4993014"/>
            <a:ext cx="377171" cy="377171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296400" y="6324600"/>
            <a:ext cx="152400" cy="1524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525000" y="6324600"/>
            <a:ext cx="152400" cy="1524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753600" y="6324600"/>
            <a:ext cx="152400" cy="1524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982200" y="6324600"/>
            <a:ext cx="152400" cy="1524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10800" y="6324600"/>
            <a:ext cx="152400" cy="152400"/>
          </a:xfrm>
          <a:prstGeom prst="rect">
            <a:avLst/>
          </a:prstGeom>
        </p:spPr>
      </p:pic>
      <p:sp>
        <p:nvSpPr>
          <p:cNvPr id="41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Design Patterns</a:t>
            </a:r>
            <a:endParaRPr lang="en-US" sz="3158" dirty="0"/>
          </a:p>
        </p:txBody>
      </p:sp>
      <p:sp>
        <p:nvSpPr>
          <p:cNvPr id="42" name="Text 1"/>
          <p:cNvSpPr/>
          <p:nvPr/>
        </p:nvSpPr>
        <p:spPr>
          <a:xfrm>
            <a:off x="60960" y="990600"/>
            <a:ext cx="12070080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3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Используется в </a:t>
            </a:r>
            <a:r>
              <a:rPr lang="en-US" sz="13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</a:t>
            </a:r>
            <a:endParaRPr lang="en-US" sz="1380" dirty="0"/>
          </a:p>
        </p:txBody>
      </p:sp>
      <p:sp>
        <p:nvSpPr>
          <p:cNvPr id="43" name="Text 2"/>
          <p:cNvSpPr/>
          <p:nvPr/>
        </p:nvSpPr>
        <p:spPr>
          <a:xfrm>
            <a:off x="228600" y="1638300"/>
            <a:ext cx="117348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Framework активно использует эти шаблоны проектирования для достижения своей гибкости и мощности.</a:t>
            </a:r>
            <a:endParaRPr lang="en-US" sz="1120" dirty="0"/>
          </a:p>
        </p:txBody>
      </p:sp>
      <p:sp>
        <p:nvSpPr>
          <p:cNvPr id="44" name="Text 3"/>
          <p:cNvSpPr/>
          <p:nvPr/>
        </p:nvSpPr>
        <p:spPr>
          <a:xfrm>
            <a:off x="1337370" y="2438400"/>
            <a:ext cx="258693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Dependency Injection</a:t>
            </a:r>
            <a:endParaRPr lang="en-US" sz="1646" dirty="0"/>
          </a:p>
        </p:txBody>
      </p:sp>
      <p:sp>
        <p:nvSpPr>
          <p:cNvPr id="45" name="Text 4"/>
          <p:cNvSpPr/>
          <p:nvPr/>
        </p:nvSpPr>
        <p:spPr>
          <a:xfrm>
            <a:off x="800100" y="3162300"/>
            <a:ext cx="3124200" cy="672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Передает ответственность за создание и управление объектами контейнеру Spring.</a:t>
            </a:r>
            <a:endParaRPr lang="en-US" sz="1120" dirty="0">
              <a:solidFill>
                <a:srgbClr val="E5E7EB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120" dirty="0"/>
          </a:p>
        </p:txBody>
      </p:sp>
      <p:sp>
        <p:nvSpPr>
          <p:cNvPr id="46" name="Text 5"/>
          <p:cNvSpPr/>
          <p:nvPr/>
        </p:nvSpPr>
        <p:spPr>
          <a:xfrm>
            <a:off x="1009650" y="39624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Уменьшает сцепление</a:t>
            </a:r>
            <a:endParaRPr lang="en-US" sz="980" dirty="0"/>
          </a:p>
        </p:txBody>
      </p:sp>
      <p:sp>
        <p:nvSpPr>
          <p:cNvPr id="47" name="Text 6"/>
          <p:cNvSpPr/>
          <p:nvPr/>
        </p:nvSpPr>
        <p:spPr>
          <a:xfrm>
            <a:off x="1009650" y="41529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Упрощает тестирование</a:t>
            </a:r>
            <a:endParaRPr lang="en-US" sz="980" dirty="0"/>
          </a:p>
        </p:txBody>
      </p:sp>
      <p:sp>
        <p:nvSpPr>
          <p:cNvPr id="48" name="Text 7"/>
          <p:cNvSpPr/>
          <p:nvPr/>
        </p:nvSpPr>
        <p:spPr>
          <a:xfrm>
            <a:off x="5105400" y="2514600"/>
            <a:ext cx="135503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Singleton</a:t>
            </a:r>
            <a:endParaRPr lang="en-US" sz="1646" dirty="0"/>
          </a:p>
        </p:txBody>
      </p:sp>
      <p:sp>
        <p:nvSpPr>
          <p:cNvPr id="49" name="Text 8"/>
          <p:cNvSpPr/>
          <p:nvPr/>
        </p:nvSpPr>
        <p:spPr>
          <a:xfrm>
            <a:off x="4533900" y="3009900"/>
            <a:ext cx="312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Гарантирует, что создается только один экземпляр класса и во всех запросах возвращается один и тот же экземпляр.</a:t>
            </a:r>
            <a:endParaRPr lang="en-US" sz="1120" dirty="0"/>
          </a:p>
        </p:txBody>
      </p:sp>
      <p:sp>
        <p:nvSpPr>
          <p:cNvPr id="50" name="Text 9"/>
          <p:cNvSpPr/>
          <p:nvPr/>
        </p:nvSpPr>
        <p:spPr>
          <a:xfrm>
            <a:off x="4743450" y="38100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en-US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State sharing</a:t>
            </a:r>
            <a:endParaRPr lang="en-US" sz="980" dirty="0"/>
          </a:p>
        </p:txBody>
      </p:sp>
      <p:sp>
        <p:nvSpPr>
          <p:cNvPr id="51" name="Text 10"/>
          <p:cNvSpPr/>
          <p:nvPr/>
        </p:nvSpPr>
        <p:spPr>
          <a:xfrm>
            <a:off x="4743450" y="40005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Оптимизация ресурсов</a:t>
            </a:r>
            <a:endParaRPr lang="en-US" sz="980" dirty="0"/>
          </a:p>
        </p:txBody>
      </p:sp>
      <p:sp>
        <p:nvSpPr>
          <p:cNvPr id="52" name="Text 11"/>
          <p:cNvSpPr/>
          <p:nvPr/>
        </p:nvSpPr>
        <p:spPr>
          <a:xfrm>
            <a:off x="8839200" y="2514600"/>
            <a:ext cx="105675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Factory</a:t>
            </a:r>
            <a:endParaRPr lang="en-US" sz="1646" dirty="0"/>
          </a:p>
        </p:txBody>
      </p:sp>
      <p:sp>
        <p:nvSpPr>
          <p:cNvPr id="53" name="Text 12"/>
          <p:cNvSpPr/>
          <p:nvPr/>
        </p:nvSpPr>
        <p:spPr>
          <a:xfrm>
            <a:off x="8267700" y="3009900"/>
            <a:ext cx="31242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Создает объекты, не раскрывая логику создания, раскрываются только созданные объекты.</a:t>
            </a:r>
            <a:endParaRPr lang="en-US" sz="1120" dirty="0"/>
          </a:p>
        </p:txBody>
      </p:sp>
      <p:sp>
        <p:nvSpPr>
          <p:cNvPr id="54" name="Text 13"/>
          <p:cNvSpPr/>
          <p:nvPr/>
        </p:nvSpPr>
        <p:spPr>
          <a:xfrm>
            <a:off x="8477250" y="38100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Инкапсуляция творения</a:t>
            </a:r>
            <a:endParaRPr lang="en-US" sz="980" dirty="0"/>
          </a:p>
        </p:txBody>
      </p:sp>
      <p:sp>
        <p:nvSpPr>
          <p:cNvPr id="55" name="Text 14"/>
          <p:cNvSpPr/>
          <p:nvPr/>
        </p:nvSpPr>
        <p:spPr>
          <a:xfrm>
            <a:off x="8477250" y="40005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Независимый клиентский интерфейс</a:t>
            </a:r>
            <a:endParaRPr lang="en-US" sz="980" dirty="0"/>
          </a:p>
        </p:txBody>
      </p:sp>
      <p:sp>
        <p:nvSpPr>
          <p:cNvPr id="56" name="Text 15"/>
          <p:cNvSpPr/>
          <p:nvPr/>
        </p:nvSpPr>
        <p:spPr>
          <a:xfrm>
            <a:off x="1371600" y="5029200"/>
            <a:ext cx="8072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Proxy</a:t>
            </a:r>
            <a:endParaRPr lang="en-US" sz="1646" dirty="0"/>
          </a:p>
        </p:txBody>
      </p:sp>
      <p:sp>
        <p:nvSpPr>
          <p:cNvPr id="57" name="Text 16"/>
          <p:cNvSpPr/>
          <p:nvPr/>
        </p:nvSpPr>
        <p:spPr>
          <a:xfrm>
            <a:off x="800100" y="5524500"/>
            <a:ext cx="31242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Предоставляет интерфейс для доступа к другому объекту, добавляя функциональность.</a:t>
            </a:r>
            <a:endParaRPr lang="en-US" sz="1120" dirty="0"/>
          </a:p>
        </p:txBody>
      </p:sp>
      <p:sp>
        <p:nvSpPr>
          <p:cNvPr id="58" name="Text 17"/>
          <p:cNvSpPr/>
          <p:nvPr/>
        </p:nvSpPr>
        <p:spPr>
          <a:xfrm>
            <a:off x="1009650" y="63246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Контроль доступа</a:t>
            </a:r>
            <a:endParaRPr lang="en-US" sz="980" dirty="0"/>
          </a:p>
        </p:txBody>
      </p:sp>
      <p:sp>
        <p:nvSpPr>
          <p:cNvPr id="59" name="Text 18"/>
          <p:cNvSpPr/>
          <p:nvPr/>
        </p:nvSpPr>
        <p:spPr>
          <a:xfrm>
            <a:off x="1009650" y="65151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Ведение журнала, транзакции</a:t>
            </a:r>
            <a:endParaRPr lang="en-US" sz="980" dirty="0"/>
          </a:p>
        </p:txBody>
      </p:sp>
      <p:sp>
        <p:nvSpPr>
          <p:cNvPr id="60" name="Text 19"/>
          <p:cNvSpPr/>
          <p:nvPr/>
        </p:nvSpPr>
        <p:spPr>
          <a:xfrm>
            <a:off x="5105400" y="5029200"/>
            <a:ext cx="245762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Template Method</a:t>
            </a:r>
            <a:endParaRPr lang="en-US" sz="1646" dirty="0"/>
          </a:p>
        </p:txBody>
      </p:sp>
      <p:sp>
        <p:nvSpPr>
          <p:cNvPr id="61" name="Text 20"/>
          <p:cNvSpPr/>
          <p:nvPr/>
        </p:nvSpPr>
        <p:spPr>
          <a:xfrm>
            <a:off x="4533900" y="5524500"/>
            <a:ext cx="31242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Определяет структуру метода, оставляя некоторые шаги для подклассов.</a:t>
            </a:r>
            <a:endParaRPr lang="en-US" sz="1120" dirty="0"/>
          </a:p>
        </p:txBody>
      </p:sp>
      <p:sp>
        <p:nvSpPr>
          <p:cNvPr id="62" name="Text 21"/>
          <p:cNvSpPr/>
          <p:nvPr/>
        </p:nvSpPr>
        <p:spPr>
          <a:xfrm>
            <a:off x="4743450" y="63246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Алгоритмы с шагами</a:t>
            </a:r>
            <a:endParaRPr lang="en-US" sz="980" dirty="0"/>
          </a:p>
        </p:txBody>
      </p:sp>
      <p:sp>
        <p:nvSpPr>
          <p:cNvPr id="63" name="Text 22"/>
          <p:cNvSpPr/>
          <p:nvPr/>
        </p:nvSpPr>
        <p:spPr>
          <a:xfrm>
            <a:off x="4743450" y="6515100"/>
            <a:ext cx="343662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Меньше перегрузки</a:t>
            </a:r>
            <a:endParaRPr lang="en-US" sz="980" dirty="0"/>
          </a:p>
        </p:txBody>
      </p:sp>
      <p:sp>
        <p:nvSpPr>
          <p:cNvPr id="64" name="Text 23"/>
          <p:cNvSpPr/>
          <p:nvPr/>
        </p:nvSpPr>
        <p:spPr>
          <a:xfrm>
            <a:off x="8839200" y="5029200"/>
            <a:ext cx="1595199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FFA5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Integration</a:t>
            </a:r>
            <a:endParaRPr lang="en-US" sz="1646" dirty="0"/>
          </a:p>
        </p:txBody>
      </p:sp>
      <p:sp>
        <p:nvSpPr>
          <p:cNvPr id="65" name="Text 24"/>
          <p:cNvSpPr/>
          <p:nvPr/>
        </p:nvSpPr>
        <p:spPr>
          <a:xfrm>
            <a:off x="8267700" y="5524500"/>
            <a:ext cx="31242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использует эти шаблоны для создания гибкой и мощной архитектуры.</a:t>
            </a:r>
            <a:endParaRPr lang="en-US" sz="11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0325" y="1143000"/>
            <a:ext cx="2743200" cy="1524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0475" y="1143000"/>
            <a:ext cx="3429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0" y="1895475"/>
            <a:ext cx="1219200" cy="190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48475" y="1143000"/>
            <a:ext cx="2743200" cy="1524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24812" y="1028700"/>
            <a:ext cx="390525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971800"/>
            <a:ext cx="5372100" cy="2171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" y="331470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0100" y="392430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0100" y="422910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0100" y="453390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10300" y="2971800"/>
            <a:ext cx="5372100" cy="2171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00" y="3162300"/>
            <a:ext cx="28575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00800" y="361950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00800" y="39243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00800" y="422910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5372100"/>
            <a:ext cx="10972800" cy="10287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5815" y="5526414"/>
            <a:ext cx="377171" cy="377171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0100" y="60198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81500" y="60198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962900" y="6019800"/>
            <a:ext cx="152400" cy="1524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SOA And Microservices</a:t>
            </a:r>
            <a:endParaRPr lang="en-US" sz="3158" dirty="0"/>
          </a:p>
        </p:txBody>
      </p:sp>
      <p:sp>
        <p:nvSpPr>
          <p:cNvPr id="27" name="Text 1"/>
          <p:cNvSpPr/>
          <p:nvPr/>
        </p:nvSpPr>
        <p:spPr>
          <a:xfrm>
            <a:off x="3405336" y="1600200"/>
            <a:ext cx="12464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Monolith</a:t>
            </a:r>
            <a:endParaRPr lang="en-US" sz="1646" dirty="0"/>
          </a:p>
        </p:txBody>
      </p:sp>
      <p:sp>
        <p:nvSpPr>
          <p:cNvPr id="28" name="Text 2"/>
          <p:cNvSpPr/>
          <p:nvPr/>
        </p:nvSpPr>
        <p:spPr>
          <a:xfrm>
            <a:off x="2752725" y="1981200"/>
            <a:ext cx="24384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Единое приложение, управляющее всей бизнес-логикой и данными</a:t>
            </a:r>
            <a:endParaRPr lang="en-US" sz="1120" dirty="0"/>
          </a:p>
        </p:txBody>
      </p:sp>
      <p:sp>
        <p:nvSpPr>
          <p:cNvPr id="29" name="Text 3"/>
          <p:cNvSpPr/>
          <p:nvPr/>
        </p:nvSpPr>
        <p:spPr>
          <a:xfrm>
            <a:off x="7335589" y="1485900"/>
            <a:ext cx="19458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Microservices</a:t>
            </a:r>
            <a:endParaRPr lang="en-US" sz="1646" dirty="0"/>
          </a:p>
        </p:txBody>
      </p:sp>
      <p:sp>
        <p:nvSpPr>
          <p:cNvPr id="30" name="Text 4"/>
          <p:cNvSpPr/>
          <p:nvPr/>
        </p:nvSpPr>
        <p:spPr>
          <a:xfrm>
            <a:off x="7000875" y="1866900"/>
            <a:ext cx="2438400" cy="672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Приложение разделено на независимые сервисы, взаимодействующие через легкие API</a:t>
            </a:r>
            <a:endParaRPr lang="en-US" sz="1120" dirty="0"/>
          </a:p>
        </p:txBody>
      </p:sp>
      <p:sp>
        <p:nvSpPr>
          <p:cNvPr id="31" name="Text 5"/>
          <p:cNvSpPr/>
          <p:nvPr/>
        </p:nvSpPr>
        <p:spPr>
          <a:xfrm>
            <a:off x="1171575" y="3162300"/>
            <a:ext cx="46196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SOA (Service-Oriented Architecture)</a:t>
            </a:r>
            <a:endParaRPr lang="en-US" sz="1646" dirty="0"/>
          </a:p>
        </p:txBody>
      </p:sp>
      <p:sp>
        <p:nvSpPr>
          <p:cNvPr id="32" name="Text 6"/>
          <p:cNvSpPr/>
          <p:nvPr/>
        </p:nvSpPr>
        <p:spPr>
          <a:xfrm>
            <a:off x="1028700" y="3886200"/>
            <a:ext cx="32385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Сервисно-ориентированная архитектура</a:t>
            </a:r>
            <a:endParaRPr lang="en-US" sz="1120" dirty="0"/>
          </a:p>
        </p:txBody>
      </p:sp>
      <p:sp>
        <p:nvSpPr>
          <p:cNvPr id="33" name="Text 7"/>
          <p:cNvSpPr/>
          <p:nvPr/>
        </p:nvSpPr>
        <p:spPr>
          <a:xfrm>
            <a:off x="1028700" y="4191000"/>
            <a:ext cx="5055885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Эволюция в сторону более распределенных и модульных подходов</a:t>
            </a:r>
            <a:endParaRPr lang="en-US" sz="1120" dirty="0"/>
          </a:p>
        </p:txBody>
      </p:sp>
      <p:sp>
        <p:nvSpPr>
          <p:cNvPr id="34" name="Text 8"/>
          <p:cNvSpPr/>
          <p:nvPr/>
        </p:nvSpPr>
        <p:spPr>
          <a:xfrm>
            <a:off x="1028700" y="4495800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Монолиты становится трудно масштабировать и развертывать по мере их роста.</a:t>
            </a:r>
            <a:endParaRPr lang="en-US" sz="1120" dirty="0"/>
          </a:p>
        </p:txBody>
      </p:sp>
      <p:sp>
        <p:nvSpPr>
          <p:cNvPr id="35" name="Text 9"/>
          <p:cNvSpPr/>
          <p:nvPr/>
        </p:nvSpPr>
        <p:spPr>
          <a:xfrm>
            <a:off x="6800850" y="3162300"/>
            <a:ext cx="4121423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ru-RU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Преимущества </a:t>
            </a:r>
            <a:r>
              <a:rPr lang="ru-RU" sz="1646" b="1" dirty="0" err="1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микросервисов</a:t>
            </a:r>
            <a:endParaRPr lang="en-US" sz="1646" dirty="0"/>
          </a:p>
        </p:txBody>
      </p:sp>
      <p:sp>
        <p:nvSpPr>
          <p:cNvPr id="36" name="Text 10"/>
          <p:cNvSpPr/>
          <p:nvPr/>
        </p:nvSpPr>
        <p:spPr>
          <a:xfrm>
            <a:off x="6629400" y="3581400"/>
            <a:ext cx="1665104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Лучшая масштабируемость</a:t>
            </a:r>
            <a:endParaRPr lang="en-US" sz="1120" dirty="0"/>
          </a:p>
        </p:txBody>
      </p:sp>
      <p:sp>
        <p:nvSpPr>
          <p:cNvPr id="37" name="Text 11"/>
          <p:cNvSpPr/>
          <p:nvPr/>
        </p:nvSpPr>
        <p:spPr>
          <a:xfrm>
            <a:off x="6629400" y="3886200"/>
            <a:ext cx="2032308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Более устойчивая медицина</a:t>
            </a:r>
            <a:endParaRPr lang="en-US" sz="1120" dirty="0"/>
          </a:p>
        </p:txBody>
      </p:sp>
      <p:sp>
        <p:nvSpPr>
          <p:cNvPr id="38" name="Text 12"/>
          <p:cNvSpPr/>
          <p:nvPr/>
        </p:nvSpPr>
        <p:spPr>
          <a:xfrm>
            <a:off x="6629400" y="4191000"/>
            <a:ext cx="1422648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Повышенная гибкость</a:t>
            </a:r>
            <a:endParaRPr lang="en-US" sz="1120" dirty="0"/>
          </a:p>
        </p:txBody>
      </p:sp>
      <p:sp>
        <p:nvSpPr>
          <p:cNvPr id="39" name="Text 13"/>
          <p:cNvSpPr/>
          <p:nvPr/>
        </p:nvSpPr>
        <p:spPr>
          <a:xfrm>
            <a:off x="1143000" y="5562600"/>
            <a:ext cx="4291355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ru-RU" sz="1646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как идеальный инструмент</a:t>
            </a:r>
            <a:endParaRPr lang="en-US" sz="1646" dirty="0"/>
          </a:p>
        </p:txBody>
      </p:sp>
      <p:sp>
        <p:nvSpPr>
          <p:cNvPr id="40" name="Text 14"/>
          <p:cNvSpPr/>
          <p:nvPr/>
        </p:nvSpPr>
        <p:spPr>
          <a:xfrm>
            <a:off x="1028700" y="5981700"/>
            <a:ext cx="1925568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Быстрое развитие</a:t>
            </a:r>
            <a:endParaRPr lang="en-US" sz="1120" dirty="0"/>
          </a:p>
        </p:txBody>
      </p:sp>
      <p:sp>
        <p:nvSpPr>
          <p:cNvPr id="41" name="Text 15"/>
          <p:cNvSpPr/>
          <p:nvPr/>
        </p:nvSpPr>
        <p:spPr>
          <a:xfrm>
            <a:off x="4610100" y="5981700"/>
            <a:ext cx="1480438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Интегрированные серверы</a:t>
            </a:r>
            <a:endParaRPr lang="en-US" sz="1120" dirty="0"/>
          </a:p>
        </p:txBody>
      </p:sp>
      <p:sp>
        <p:nvSpPr>
          <p:cNvPr id="42" name="Text 16"/>
          <p:cNvSpPr/>
          <p:nvPr/>
        </p:nvSpPr>
        <p:spPr>
          <a:xfrm>
            <a:off x="8191500" y="5981700"/>
            <a:ext cx="319662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Упрощает создание и развертывание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143000"/>
            <a:ext cx="4438650" cy="396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1333500"/>
            <a:ext cx="36195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" y="24765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" y="27813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" y="30861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" y="33909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76850" y="1143000"/>
            <a:ext cx="6305550" cy="1295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67350" y="1333500"/>
            <a:ext cx="285750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76850" y="2590800"/>
            <a:ext cx="6305550" cy="2514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29250" y="3619500"/>
            <a:ext cx="1399133" cy="8382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14442" y="3733800"/>
            <a:ext cx="2286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257008" y="3790950"/>
            <a:ext cx="171450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57232" y="3619500"/>
            <a:ext cx="1399133" cy="838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56712" y="3733800"/>
            <a:ext cx="200025" cy="304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57742" y="3790950"/>
            <a:ext cx="171450" cy="266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30718" y="3619500"/>
            <a:ext cx="1399133" cy="8382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587335" y="3733800"/>
            <a:ext cx="285750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9600" y="5257800"/>
            <a:ext cx="10972800" cy="10287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2000" y="5448300"/>
            <a:ext cx="285750" cy="30480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Cloud and Eureka</a:t>
            </a:r>
            <a:endParaRPr lang="en-US" sz="3158" dirty="0"/>
          </a:p>
        </p:txBody>
      </p:sp>
      <p:sp>
        <p:nvSpPr>
          <p:cNvPr id="26" name="Text 1"/>
          <p:cNvSpPr/>
          <p:nvPr/>
        </p:nvSpPr>
        <p:spPr>
          <a:xfrm>
            <a:off x="1276350" y="1352550"/>
            <a:ext cx="18204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Cloud</a:t>
            </a:r>
            <a:endParaRPr lang="en-US" sz="1646" dirty="0"/>
          </a:p>
        </p:txBody>
      </p:sp>
      <p:sp>
        <p:nvSpPr>
          <p:cNvPr id="27" name="Text 2"/>
          <p:cNvSpPr/>
          <p:nvPr/>
        </p:nvSpPr>
        <p:spPr>
          <a:xfrm>
            <a:off x="800100" y="1828800"/>
            <a:ext cx="4057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Коллекция инструментов, обеспечивающих общие закономерности в распределенных системах.</a:t>
            </a:r>
            <a:endParaRPr lang="en-US" sz="1120" dirty="0"/>
          </a:p>
        </p:txBody>
      </p:sp>
      <p:sp>
        <p:nvSpPr>
          <p:cNvPr id="28" name="Text 3"/>
          <p:cNvSpPr/>
          <p:nvPr/>
        </p:nvSpPr>
        <p:spPr>
          <a:xfrm>
            <a:off x="1028700" y="2438400"/>
            <a:ext cx="2244313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Управление конфигурацией</a:t>
            </a:r>
            <a:endParaRPr lang="en-US" sz="1120" dirty="0"/>
          </a:p>
        </p:txBody>
      </p:sp>
      <p:sp>
        <p:nvSpPr>
          <p:cNvPr id="29" name="Text 4"/>
          <p:cNvSpPr/>
          <p:nvPr/>
        </p:nvSpPr>
        <p:spPr>
          <a:xfrm>
            <a:off x="1028700" y="2743200"/>
            <a:ext cx="1977301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Обнаружение сервисов</a:t>
            </a:r>
            <a:endParaRPr lang="en-US" sz="1120" dirty="0"/>
          </a:p>
        </p:txBody>
      </p:sp>
      <p:sp>
        <p:nvSpPr>
          <p:cNvPr id="30" name="Text 5"/>
          <p:cNvSpPr/>
          <p:nvPr/>
        </p:nvSpPr>
        <p:spPr>
          <a:xfrm>
            <a:off x="1028700" y="3048000"/>
            <a:ext cx="1320984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Circuit breakers</a:t>
            </a:r>
          </a:p>
        </p:txBody>
      </p:sp>
      <p:sp>
        <p:nvSpPr>
          <p:cNvPr id="31" name="Text 6"/>
          <p:cNvSpPr/>
          <p:nvPr/>
        </p:nvSpPr>
        <p:spPr>
          <a:xfrm>
            <a:off x="1028699" y="3352800"/>
            <a:ext cx="2483757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Интеллектуальная маршрутизация</a:t>
            </a:r>
            <a:endParaRPr lang="en-US" sz="1120" dirty="0"/>
          </a:p>
        </p:txBody>
      </p:sp>
      <p:sp>
        <p:nvSpPr>
          <p:cNvPr id="32" name="Text 7"/>
          <p:cNvSpPr/>
          <p:nvPr/>
        </p:nvSpPr>
        <p:spPr>
          <a:xfrm>
            <a:off x="5867400" y="1352550"/>
            <a:ext cx="41436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Eureka (Spring Cloud Netflix)</a:t>
            </a:r>
            <a:endParaRPr lang="en-US" sz="1646" dirty="0"/>
          </a:p>
        </p:txBody>
      </p:sp>
      <p:sp>
        <p:nvSpPr>
          <p:cNvPr id="33" name="Text 8"/>
          <p:cNvSpPr/>
          <p:nvPr/>
        </p:nvSpPr>
        <p:spPr>
          <a:xfrm>
            <a:off x="5467350" y="1790700"/>
            <a:ext cx="5924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Сервер обнаружения сервисов, позволяющий </a:t>
            </a:r>
            <a:r>
              <a:rPr lang="ru-RU" sz="1120" dirty="0" err="1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микросервисам</a:t>
            </a: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регистрироваться и обнаруживать другие сервисы.</a:t>
            </a:r>
            <a:endParaRPr lang="en-US" sz="1120" dirty="0"/>
          </a:p>
        </p:txBody>
      </p:sp>
      <p:sp>
        <p:nvSpPr>
          <p:cNvPr id="34" name="Text 9"/>
          <p:cNvSpPr/>
          <p:nvPr/>
        </p:nvSpPr>
        <p:spPr>
          <a:xfrm>
            <a:off x="5429250" y="2743200"/>
            <a:ext cx="6600825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Процесс обнаружения услуг</a:t>
            </a:r>
            <a:endParaRPr lang="en-US" sz="1380" dirty="0"/>
          </a:p>
        </p:txBody>
      </p:sp>
      <p:sp>
        <p:nvSpPr>
          <p:cNvPr id="35" name="Text 10"/>
          <p:cNvSpPr/>
          <p:nvPr/>
        </p:nvSpPr>
        <p:spPr>
          <a:xfrm>
            <a:off x="5485023" y="4114800"/>
            <a:ext cx="12875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Microservice</a:t>
            </a:r>
            <a:endParaRPr lang="en-US" sz="1120" dirty="0"/>
          </a:p>
        </p:txBody>
      </p:sp>
      <p:sp>
        <p:nvSpPr>
          <p:cNvPr id="36" name="Text 11"/>
          <p:cNvSpPr/>
          <p:nvPr/>
        </p:nvSpPr>
        <p:spPr>
          <a:xfrm>
            <a:off x="7011404" y="4095750"/>
            <a:ext cx="1131734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Регистрация</a:t>
            </a:r>
            <a:endParaRPr lang="en-US" sz="980" dirty="0"/>
          </a:p>
        </p:txBody>
      </p:sp>
      <p:sp>
        <p:nvSpPr>
          <p:cNvPr id="37" name="Text 12"/>
          <p:cNvSpPr/>
          <p:nvPr/>
        </p:nvSpPr>
        <p:spPr>
          <a:xfrm>
            <a:off x="7913005" y="4114800"/>
            <a:ext cx="12875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Eureka</a:t>
            </a:r>
            <a:endParaRPr lang="en-US" sz="1120" dirty="0"/>
          </a:p>
        </p:txBody>
      </p:sp>
      <p:sp>
        <p:nvSpPr>
          <p:cNvPr id="38" name="Text 13"/>
          <p:cNvSpPr/>
          <p:nvPr/>
        </p:nvSpPr>
        <p:spPr>
          <a:xfrm>
            <a:off x="9359250" y="4108828"/>
            <a:ext cx="851788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500"/>
              </a:lnSpc>
              <a:buNone/>
            </a:pPr>
            <a:r>
              <a:rPr lang="ru-RU" sz="98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Открытие</a:t>
            </a:r>
            <a:endParaRPr lang="en-US" sz="980" dirty="0"/>
          </a:p>
        </p:txBody>
      </p:sp>
      <p:sp>
        <p:nvSpPr>
          <p:cNvPr id="39" name="Text 14"/>
          <p:cNvSpPr/>
          <p:nvPr/>
        </p:nvSpPr>
        <p:spPr>
          <a:xfrm>
            <a:off x="10086491" y="4114800"/>
            <a:ext cx="12875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1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Client</a:t>
            </a:r>
            <a:endParaRPr lang="en-US" sz="1120" dirty="0"/>
          </a:p>
        </p:txBody>
      </p:sp>
      <p:sp>
        <p:nvSpPr>
          <p:cNvPr id="40" name="Text 15"/>
          <p:cNvSpPr/>
          <p:nvPr/>
        </p:nvSpPr>
        <p:spPr>
          <a:xfrm>
            <a:off x="1162050" y="5410200"/>
            <a:ext cx="11294745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Балансировка нагрузки</a:t>
            </a:r>
            <a:endParaRPr lang="en-US" sz="1380" dirty="0"/>
          </a:p>
        </p:txBody>
      </p:sp>
      <p:sp>
        <p:nvSpPr>
          <p:cNvPr id="41" name="Text 16"/>
          <p:cNvSpPr/>
          <p:nvPr/>
        </p:nvSpPr>
        <p:spPr>
          <a:xfrm>
            <a:off x="1162050" y="5676900"/>
            <a:ext cx="10267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Eureka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предоставляет список доступных экземпляров служб, позволяя клиентским балансировщикам нагрузки (например, Spring </a:t>
            </a: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Cloud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Ribbon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 распределять запросы по этим экземплярам, ​​повышая устойчивость</a:t>
            </a: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к отказам и производительность.</a:t>
            </a:r>
            <a:endParaRPr lang="en-US" sz="11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524000"/>
            <a:ext cx="3505200" cy="3657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676400"/>
            <a:ext cx="28575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2057139"/>
            <a:ext cx="3200400" cy="2839604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3400" y="1524000"/>
            <a:ext cx="3505200" cy="3657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5800" y="1676400"/>
            <a:ext cx="285750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5800" y="2095499"/>
            <a:ext cx="3200400" cy="2801243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0" y="1524000"/>
            <a:ext cx="4025592" cy="3657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53400" y="1676400"/>
            <a:ext cx="200025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53399" y="2095500"/>
            <a:ext cx="3768077" cy="2438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25528" y="3082230"/>
            <a:ext cx="171450" cy="190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56352" y="3082230"/>
            <a:ext cx="171450" cy="190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5410200"/>
            <a:ext cx="10972800" cy="9525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2000" y="5562600"/>
            <a:ext cx="228600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2000" y="6019800"/>
            <a:ext cx="1143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96704" y="5981700"/>
            <a:ext cx="133350" cy="228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2398" y="6019800"/>
            <a:ext cx="1143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6130" y="5981700"/>
            <a:ext cx="133350" cy="228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121825" y="6019800"/>
            <a:ext cx="114300" cy="15240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Example  Application (REST API)</a:t>
            </a:r>
            <a:endParaRPr lang="en-US" sz="3158" dirty="0"/>
          </a:p>
        </p:txBody>
      </p:sp>
      <p:sp>
        <p:nvSpPr>
          <p:cNvPr id="25" name="Text 1"/>
          <p:cNvSpPr/>
          <p:nvPr/>
        </p:nvSpPr>
        <p:spPr>
          <a:xfrm>
            <a:off x="60960" y="990600"/>
            <a:ext cx="12070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646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To-Do REST API</a:t>
            </a:r>
            <a:endParaRPr lang="en-US" sz="1646" dirty="0"/>
          </a:p>
        </p:txBody>
      </p:sp>
      <p:sp>
        <p:nvSpPr>
          <p:cNvPr id="26" name="Text 2"/>
          <p:cNvSpPr/>
          <p:nvPr/>
        </p:nvSpPr>
        <p:spPr>
          <a:xfrm>
            <a:off x="1238250" y="1676400"/>
            <a:ext cx="142035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Controller</a:t>
            </a:r>
            <a:endParaRPr lang="en-US" sz="1646" dirty="0"/>
          </a:p>
        </p:txBody>
      </p:sp>
      <p:sp>
        <p:nvSpPr>
          <p:cNvPr id="27" name="Text 3"/>
          <p:cNvSpPr/>
          <p:nvPr/>
        </p:nvSpPr>
        <p:spPr>
          <a:xfrm>
            <a:off x="952500" y="2219325"/>
            <a:ext cx="13204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@RestController</a:t>
            </a:r>
            <a:endParaRPr lang="en-US" sz="980" dirty="0"/>
          </a:p>
        </p:txBody>
      </p:sp>
      <p:sp>
        <p:nvSpPr>
          <p:cNvPr id="28" name="Text 4"/>
          <p:cNvSpPr/>
          <p:nvPr/>
        </p:nvSpPr>
        <p:spPr>
          <a:xfrm>
            <a:off x="952500" y="2405955"/>
            <a:ext cx="13204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@RequestMapping</a:t>
            </a:r>
            <a:endParaRPr lang="en-US" sz="980" dirty="0"/>
          </a:p>
        </p:txBody>
      </p:sp>
      <p:sp>
        <p:nvSpPr>
          <p:cNvPr id="29" name="Text 5"/>
          <p:cNvSpPr/>
          <p:nvPr/>
        </p:nvSpPr>
        <p:spPr>
          <a:xfrm>
            <a:off x="1970999" y="2411016"/>
            <a:ext cx="880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(</a:t>
            </a:r>
            <a:endParaRPr lang="en-US" sz="980" dirty="0"/>
          </a:p>
        </p:txBody>
      </p:sp>
      <p:sp>
        <p:nvSpPr>
          <p:cNvPr id="30" name="Text 6"/>
          <p:cNvSpPr/>
          <p:nvPr/>
        </p:nvSpPr>
        <p:spPr>
          <a:xfrm>
            <a:off x="2029428" y="2412659"/>
            <a:ext cx="665300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F6E05E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"/api/todos"</a:t>
            </a:r>
            <a:endParaRPr lang="en-US" sz="980" dirty="0"/>
          </a:p>
        </p:txBody>
      </p:sp>
      <p:sp>
        <p:nvSpPr>
          <p:cNvPr id="31" name="Text 7"/>
          <p:cNvSpPr/>
          <p:nvPr/>
        </p:nvSpPr>
        <p:spPr>
          <a:xfrm>
            <a:off x="2680207" y="2407003"/>
            <a:ext cx="880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)</a:t>
            </a:r>
            <a:endParaRPr lang="en-US" sz="980" dirty="0"/>
          </a:p>
        </p:txBody>
      </p:sp>
      <p:sp>
        <p:nvSpPr>
          <p:cNvPr id="32" name="Text 8"/>
          <p:cNvSpPr/>
          <p:nvPr/>
        </p:nvSpPr>
        <p:spPr>
          <a:xfrm>
            <a:off x="952500" y="2592586"/>
            <a:ext cx="10564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public class</a:t>
            </a:r>
            <a:endParaRPr lang="en-US" sz="980" dirty="0"/>
          </a:p>
        </p:txBody>
      </p:sp>
      <p:sp>
        <p:nvSpPr>
          <p:cNvPr id="33" name="Text 9"/>
          <p:cNvSpPr/>
          <p:nvPr/>
        </p:nvSpPr>
        <p:spPr>
          <a:xfrm>
            <a:off x="1550016" y="2609130"/>
            <a:ext cx="12324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FFA50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TodoController</a:t>
            </a:r>
            <a:endParaRPr lang="en-US" sz="980" dirty="0"/>
          </a:p>
        </p:txBody>
      </p:sp>
      <p:sp>
        <p:nvSpPr>
          <p:cNvPr id="34" name="Text 10"/>
          <p:cNvSpPr/>
          <p:nvPr/>
        </p:nvSpPr>
        <p:spPr>
          <a:xfrm>
            <a:off x="2357108" y="2612106"/>
            <a:ext cx="136741" cy="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{</a:t>
            </a:r>
            <a:endParaRPr lang="en-US" sz="980" dirty="0"/>
          </a:p>
        </p:txBody>
      </p:sp>
      <p:sp>
        <p:nvSpPr>
          <p:cNvPr id="35" name="Text 11"/>
          <p:cNvSpPr/>
          <p:nvPr/>
        </p:nvSpPr>
        <p:spPr>
          <a:xfrm>
            <a:off x="1272629" y="2965847"/>
            <a:ext cx="11443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private final</a:t>
            </a:r>
            <a:endParaRPr lang="en-US" sz="980" dirty="0"/>
          </a:p>
        </p:txBody>
      </p:sp>
      <p:sp>
        <p:nvSpPr>
          <p:cNvPr id="36" name="Text 12"/>
          <p:cNvSpPr/>
          <p:nvPr/>
        </p:nvSpPr>
        <p:spPr>
          <a:xfrm>
            <a:off x="1912888" y="2970819"/>
            <a:ext cx="968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FFA50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TodoService</a:t>
            </a:r>
            <a:endParaRPr lang="en-US" sz="980" dirty="0"/>
          </a:p>
        </p:txBody>
      </p:sp>
      <p:sp>
        <p:nvSpPr>
          <p:cNvPr id="37" name="Text 13"/>
          <p:cNvSpPr/>
          <p:nvPr/>
        </p:nvSpPr>
        <p:spPr>
          <a:xfrm>
            <a:off x="2557306" y="2980731"/>
            <a:ext cx="669669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todoService;</a:t>
            </a:r>
            <a:endParaRPr lang="en-US" sz="980" dirty="0"/>
          </a:p>
        </p:txBody>
      </p:sp>
      <p:sp>
        <p:nvSpPr>
          <p:cNvPr id="38" name="Text 14"/>
          <p:cNvSpPr/>
          <p:nvPr/>
        </p:nvSpPr>
        <p:spPr>
          <a:xfrm>
            <a:off x="1272629" y="3339108"/>
            <a:ext cx="528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public</a:t>
            </a:r>
            <a:endParaRPr lang="en-US" sz="980" dirty="0"/>
          </a:p>
        </p:txBody>
      </p:sp>
      <p:sp>
        <p:nvSpPr>
          <p:cNvPr id="39" name="Text 15"/>
          <p:cNvSpPr/>
          <p:nvPr/>
        </p:nvSpPr>
        <p:spPr>
          <a:xfrm>
            <a:off x="1602308" y="3343981"/>
            <a:ext cx="2232741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TodoController(TodoService todoService) {</a:t>
            </a:r>
            <a:endParaRPr lang="en-US" sz="980" dirty="0"/>
          </a:p>
        </p:txBody>
      </p:sp>
      <p:sp>
        <p:nvSpPr>
          <p:cNvPr id="40" name="Text 16"/>
          <p:cNvSpPr/>
          <p:nvPr/>
        </p:nvSpPr>
        <p:spPr>
          <a:xfrm>
            <a:off x="1592759" y="3525738"/>
            <a:ext cx="3521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this</a:t>
            </a:r>
            <a:endParaRPr lang="en-US" sz="980" dirty="0"/>
          </a:p>
        </p:txBody>
      </p:sp>
      <p:sp>
        <p:nvSpPr>
          <p:cNvPr id="41" name="Text 17"/>
          <p:cNvSpPr/>
          <p:nvPr/>
        </p:nvSpPr>
        <p:spPr>
          <a:xfrm>
            <a:off x="1779687" y="3531558"/>
            <a:ext cx="1473072" cy="3697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.todoService = todoService;</a:t>
            </a:r>
            <a:endParaRPr lang="en-US" sz="980" dirty="0"/>
          </a:p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    }</a:t>
            </a:r>
            <a:endParaRPr lang="en-US" sz="980" dirty="0"/>
          </a:p>
        </p:txBody>
      </p:sp>
      <p:sp>
        <p:nvSpPr>
          <p:cNvPr id="42" name="Text 18"/>
          <p:cNvSpPr/>
          <p:nvPr/>
        </p:nvSpPr>
        <p:spPr>
          <a:xfrm>
            <a:off x="1272629" y="3951894"/>
            <a:ext cx="968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@GetMapping</a:t>
            </a:r>
            <a:endParaRPr lang="en-US" sz="980" dirty="0"/>
          </a:p>
        </p:txBody>
      </p:sp>
      <p:sp>
        <p:nvSpPr>
          <p:cNvPr id="43" name="Text 19"/>
          <p:cNvSpPr/>
          <p:nvPr/>
        </p:nvSpPr>
        <p:spPr>
          <a:xfrm>
            <a:off x="1272629" y="4214461"/>
            <a:ext cx="528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public</a:t>
            </a:r>
            <a:endParaRPr lang="en-US" sz="980" dirty="0"/>
          </a:p>
        </p:txBody>
      </p:sp>
      <p:sp>
        <p:nvSpPr>
          <p:cNvPr id="44" name="Text 20"/>
          <p:cNvSpPr/>
          <p:nvPr/>
        </p:nvSpPr>
        <p:spPr>
          <a:xfrm>
            <a:off x="1624162" y="4224712"/>
            <a:ext cx="1371451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List&lt;Todo&gt; getAllTodos() {</a:t>
            </a:r>
            <a:endParaRPr lang="en-US" sz="980" dirty="0"/>
          </a:p>
        </p:txBody>
      </p:sp>
      <p:sp>
        <p:nvSpPr>
          <p:cNvPr id="45" name="Text 21"/>
          <p:cNvSpPr/>
          <p:nvPr/>
        </p:nvSpPr>
        <p:spPr>
          <a:xfrm>
            <a:off x="1596821" y="4391566"/>
            <a:ext cx="24648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// @GetMapping -&gt; Controller</a:t>
            </a:r>
            <a:endParaRPr lang="en-US" sz="980" dirty="0"/>
          </a:p>
        </p:txBody>
      </p:sp>
      <p:sp>
        <p:nvSpPr>
          <p:cNvPr id="46" name="Text 22"/>
          <p:cNvSpPr/>
          <p:nvPr/>
        </p:nvSpPr>
        <p:spPr>
          <a:xfrm>
            <a:off x="1579416" y="4553752"/>
            <a:ext cx="528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return</a:t>
            </a:r>
            <a:endParaRPr lang="en-US" sz="980" dirty="0"/>
          </a:p>
        </p:txBody>
      </p:sp>
      <p:sp>
        <p:nvSpPr>
          <p:cNvPr id="47" name="Text 23"/>
          <p:cNvSpPr/>
          <p:nvPr/>
        </p:nvSpPr>
        <p:spPr>
          <a:xfrm>
            <a:off x="1933358" y="4574851"/>
            <a:ext cx="1107826" cy="182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todoService.findAll();</a:t>
            </a:r>
            <a:endParaRPr lang="en-US" sz="980" dirty="0"/>
          </a:p>
        </p:txBody>
      </p:sp>
      <p:sp>
        <p:nvSpPr>
          <p:cNvPr id="48" name="Text 24"/>
          <p:cNvSpPr/>
          <p:nvPr/>
        </p:nvSpPr>
        <p:spPr>
          <a:xfrm>
            <a:off x="3034345" y="4579596"/>
            <a:ext cx="667904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// -&gt; Service</a:t>
            </a:r>
            <a:endParaRPr lang="en-US" sz="980" dirty="0"/>
          </a:p>
        </p:txBody>
      </p:sp>
      <p:sp>
        <p:nvSpPr>
          <p:cNvPr id="49" name="Text 25"/>
          <p:cNvSpPr/>
          <p:nvPr/>
        </p:nvSpPr>
        <p:spPr>
          <a:xfrm>
            <a:off x="2917820" y="4732056"/>
            <a:ext cx="217095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}</a:t>
            </a:r>
            <a:endParaRPr lang="en-US" sz="980" dirty="0"/>
          </a:p>
        </p:txBody>
      </p:sp>
      <p:sp>
        <p:nvSpPr>
          <p:cNvPr id="50" name="Text 26"/>
          <p:cNvSpPr/>
          <p:nvPr/>
        </p:nvSpPr>
        <p:spPr>
          <a:xfrm>
            <a:off x="1318222" y="4725907"/>
            <a:ext cx="2552745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ru-RU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// ... другие </a:t>
            </a:r>
            <a:r>
              <a:rPr lang="en-US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CRUD-</a:t>
            </a:r>
            <a:r>
              <a:rPr lang="ru-RU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операции</a:t>
            </a:r>
            <a:endParaRPr lang="en-US" sz="980" dirty="0"/>
          </a:p>
        </p:txBody>
      </p:sp>
      <p:sp>
        <p:nvSpPr>
          <p:cNvPr id="51" name="Text 27"/>
          <p:cNvSpPr/>
          <p:nvPr/>
        </p:nvSpPr>
        <p:spPr>
          <a:xfrm>
            <a:off x="2848102" y="4732044"/>
            <a:ext cx="880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}</a:t>
            </a:r>
            <a:endParaRPr lang="en-US" sz="980" dirty="0"/>
          </a:p>
        </p:txBody>
      </p:sp>
      <p:sp>
        <p:nvSpPr>
          <p:cNvPr id="52" name="Text 28"/>
          <p:cNvSpPr/>
          <p:nvPr/>
        </p:nvSpPr>
        <p:spPr>
          <a:xfrm>
            <a:off x="4895850" y="1676400"/>
            <a:ext cx="104545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60A5F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Service</a:t>
            </a:r>
            <a:endParaRPr lang="en-US" sz="1646" dirty="0"/>
          </a:p>
        </p:txBody>
      </p:sp>
      <p:sp>
        <p:nvSpPr>
          <p:cNvPr id="53" name="Text 29"/>
          <p:cNvSpPr/>
          <p:nvPr/>
        </p:nvSpPr>
        <p:spPr>
          <a:xfrm>
            <a:off x="4610100" y="2219325"/>
            <a:ext cx="70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@Service</a:t>
            </a:r>
            <a:endParaRPr lang="en-US" sz="980" dirty="0"/>
          </a:p>
        </p:txBody>
      </p:sp>
      <p:sp>
        <p:nvSpPr>
          <p:cNvPr id="54" name="Text 30"/>
          <p:cNvSpPr/>
          <p:nvPr/>
        </p:nvSpPr>
        <p:spPr>
          <a:xfrm>
            <a:off x="4610101" y="2405955"/>
            <a:ext cx="704284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public class</a:t>
            </a:r>
            <a:endParaRPr lang="en-US" sz="980" dirty="0"/>
          </a:p>
        </p:txBody>
      </p:sp>
      <p:sp>
        <p:nvSpPr>
          <p:cNvPr id="55" name="Text 31"/>
          <p:cNvSpPr/>
          <p:nvPr/>
        </p:nvSpPr>
        <p:spPr>
          <a:xfrm>
            <a:off x="5219974" y="2420667"/>
            <a:ext cx="968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FFA50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TodoService</a:t>
            </a:r>
            <a:endParaRPr lang="en-US" sz="980" dirty="0"/>
          </a:p>
        </p:txBody>
      </p:sp>
      <p:sp>
        <p:nvSpPr>
          <p:cNvPr id="56" name="Text 32"/>
          <p:cNvSpPr/>
          <p:nvPr/>
        </p:nvSpPr>
        <p:spPr>
          <a:xfrm>
            <a:off x="5905258" y="2426503"/>
            <a:ext cx="85967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{</a:t>
            </a:r>
            <a:endParaRPr lang="en-US" sz="980" dirty="0"/>
          </a:p>
        </p:txBody>
      </p:sp>
      <p:sp>
        <p:nvSpPr>
          <p:cNvPr id="57" name="Text 33"/>
          <p:cNvSpPr/>
          <p:nvPr/>
        </p:nvSpPr>
        <p:spPr>
          <a:xfrm>
            <a:off x="4930229" y="2779216"/>
            <a:ext cx="11443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private final</a:t>
            </a:r>
            <a:endParaRPr lang="en-US" sz="980" dirty="0"/>
          </a:p>
        </p:txBody>
      </p:sp>
      <p:sp>
        <p:nvSpPr>
          <p:cNvPr id="58" name="Text 34"/>
          <p:cNvSpPr/>
          <p:nvPr/>
        </p:nvSpPr>
        <p:spPr>
          <a:xfrm>
            <a:off x="5609868" y="2783514"/>
            <a:ext cx="12324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FFA50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TodoRepository</a:t>
            </a:r>
            <a:endParaRPr lang="en-US" sz="980" dirty="0"/>
          </a:p>
        </p:txBody>
      </p:sp>
      <p:sp>
        <p:nvSpPr>
          <p:cNvPr id="59" name="Text 35"/>
          <p:cNvSpPr/>
          <p:nvPr/>
        </p:nvSpPr>
        <p:spPr>
          <a:xfrm>
            <a:off x="6445306" y="2783865"/>
            <a:ext cx="917519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 err="1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todoRepository</a:t>
            </a: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;</a:t>
            </a:r>
            <a:endParaRPr lang="en-US" sz="980" dirty="0"/>
          </a:p>
        </p:txBody>
      </p:sp>
      <p:sp>
        <p:nvSpPr>
          <p:cNvPr id="60" name="Text 36"/>
          <p:cNvSpPr/>
          <p:nvPr/>
        </p:nvSpPr>
        <p:spPr>
          <a:xfrm>
            <a:off x="4930229" y="3152477"/>
            <a:ext cx="528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public</a:t>
            </a:r>
            <a:endParaRPr lang="en-US" sz="980" dirty="0"/>
          </a:p>
        </p:txBody>
      </p:sp>
      <p:sp>
        <p:nvSpPr>
          <p:cNvPr id="61" name="Text 37"/>
          <p:cNvSpPr/>
          <p:nvPr/>
        </p:nvSpPr>
        <p:spPr>
          <a:xfrm>
            <a:off x="5305807" y="3161687"/>
            <a:ext cx="2372504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TodoService(TodoRepository todoRepository) {</a:t>
            </a:r>
            <a:endParaRPr lang="en-US" sz="980" dirty="0"/>
          </a:p>
        </p:txBody>
      </p:sp>
      <p:sp>
        <p:nvSpPr>
          <p:cNvPr id="62" name="Text 38"/>
          <p:cNvSpPr/>
          <p:nvPr/>
        </p:nvSpPr>
        <p:spPr>
          <a:xfrm>
            <a:off x="5250359" y="3339108"/>
            <a:ext cx="3521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this</a:t>
            </a:r>
            <a:endParaRPr lang="en-US" sz="980" dirty="0"/>
          </a:p>
        </p:txBody>
      </p:sp>
      <p:sp>
        <p:nvSpPr>
          <p:cNvPr id="63" name="Text 39"/>
          <p:cNvSpPr/>
          <p:nvPr/>
        </p:nvSpPr>
        <p:spPr>
          <a:xfrm>
            <a:off x="5436721" y="3347702"/>
            <a:ext cx="3601194" cy="712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.todoRepository = todoRepository;</a:t>
            </a:r>
            <a:endParaRPr lang="en-US" sz="980" dirty="0"/>
          </a:p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    }</a:t>
            </a:r>
            <a:endParaRPr lang="en-US" sz="980" dirty="0"/>
          </a:p>
        </p:txBody>
      </p:sp>
      <p:sp>
        <p:nvSpPr>
          <p:cNvPr id="64" name="Text 40"/>
          <p:cNvSpPr/>
          <p:nvPr/>
        </p:nvSpPr>
        <p:spPr>
          <a:xfrm>
            <a:off x="4911119" y="3743297"/>
            <a:ext cx="528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public</a:t>
            </a:r>
            <a:endParaRPr lang="en-US" sz="980" dirty="0"/>
          </a:p>
        </p:txBody>
      </p:sp>
      <p:sp>
        <p:nvSpPr>
          <p:cNvPr id="65" name="Text 41"/>
          <p:cNvSpPr/>
          <p:nvPr/>
        </p:nvSpPr>
        <p:spPr>
          <a:xfrm>
            <a:off x="5243350" y="3755194"/>
            <a:ext cx="1115526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List&lt;Todo&gt; findAll() {</a:t>
            </a:r>
            <a:endParaRPr lang="en-US" sz="980" dirty="0"/>
          </a:p>
        </p:txBody>
      </p:sp>
      <p:sp>
        <p:nvSpPr>
          <p:cNvPr id="66" name="Text 42"/>
          <p:cNvSpPr/>
          <p:nvPr/>
        </p:nvSpPr>
        <p:spPr>
          <a:xfrm>
            <a:off x="5251058" y="3985838"/>
            <a:ext cx="1279818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// Service -&gt; Repository</a:t>
            </a:r>
            <a:endParaRPr lang="en-US" sz="980" dirty="0"/>
          </a:p>
        </p:txBody>
      </p:sp>
      <p:sp>
        <p:nvSpPr>
          <p:cNvPr id="67" name="Text 43"/>
          <p:cNvSpPr/>
          <p:nvPr/>
        </p:nvSpPr>
        <p:spPr>
          <a:xfrm>
            <a:off x="5238250" y="4200534"/>
            <a:ext cx="5282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return</a:t>
            </a:r>
            <a:endParaRPr lang="en-US" sz="980" dirty="0"/>
          </a:p>
        </p:txBody>
      </p:sp>
      <p:sp>
        <p:nvSpPr>
          <p:cNvPr id="68" name="Text 44"/>
          <p:cNvSpPr/>
          <p:nvPr/>
        </p:nvSpPr>
        <p:spPr>
          <a:xfrm>
            <a:off x="5566520" y="4205811"/>
            <a:ext cx="1324818" cy="37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todoRepository.findAll();</a:t>
            </a:r>
            <a:endParaRPr lang="en-US" sz="980" dirty="0"/>
          </a:p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    }</a:t>
            </a:r>
            <a:endParaRPr lang="en-US" sz="980" dirty="0"/>
          </a:p>
        </p:txBody>
      </p:sp>
      <p:sp>
        <p:nvSpPr>
          <p:cNvPr id="69" name="Text 45"/>
          <p:cNvSpPr/>
          <p:nvPr/>
        </p:nvSpPr>
        <p:spPr>
          <a:xfrm>
            <a:off x="5205740" y="4593711"/>
            <a:ext cx="1848624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ru-RU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// ... </a:t>
            </a:r>
            <a:r>
              <a:rPr lang="en-US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Business logic</a:t>
            </a:r>
            <a:endParaRPr lang="en-US" sz="980" dirty="0"/>
          </a:p>
        </p:txBody>
      </p:sp>
      <p:sp>
        <p:nvSpPr>
          <p:cNvPr id="70" name="Text 46"/>
          <p:cNvSpPr/>
          <p:nvPr/>
        </p:nvSpPr>
        <p:spPr>
          <a:xfrm>
            <a:off x="6243160" y="4605186"/>
            <a:ext cx="88076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}</a:t>
            </a:r>
            <a:endParaRPr lang="en-US" sz="980" dirty="0"/>
          </a:p>
        </p:txBody>
      </p:sp>
      <p:sp>
        <p:nvSpPr>
          <p:cNvPr id="71" name="Text 47"/>
          <p:cNvSpPr/>
          <p:nvPr/>
        </p:nvSpPr>
        <p:spPr>
          <a:xfrm>
            <a:off x="8467725" y="1676400"/>
            <a:ext cx="153380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C084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Repository</a:t>
            </a:r>
            <a:endParaRPr lang="en-US" sz="1646" dirty="0"/>
          </a:p>
        </p:txBody>
      </p:sp>
      <p:sp>
        <p:nvSpPr>
          <p:cNvPr id="72" name="Text 48"/>
          <p:cNvSpPr/>
          <p:nvPr/>
        </p:nvSpPr>
        <p:spPr>
          <a:xfrm>
            <a:off x="8267700" y="2219325"/>
            <a:ext cx="968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@Repository</a:t>
            </a:r>
            <a:endParaRPr lang="en-US" sz="980" dirty="0"/>
          </a:p>
        </p:txBody>
      </p:sp>
      <p:sp>
        <p:nvSpPr>
          <p:cNvPr id="73" name="Text 49"/>
          <p:cNvSpPr/>
          <p:nvPr/>
        </p:nvSpPr>
        <p:spPr>
          <a:xfrm>
            <a:off x="8267700" y="2405954"/>
            <a:ext cx="86677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public interface</a:t>
            </a:r>
            <a:endParaRPr lang="en-US" sz="980" dirty="0"/>
          </a:p>
        </p:txBody>
      </p:sp>
      <p:sp>
        <p:nvSpPr>
          <p:cNvPr id="74" name="Text 50"/>
          <p:cNvSpPr/>
          <p:nvPr/>
        </p:nvSpPr>
        <p:spPr>
          <a:xfrm>
            <a:off x="9104531" y="2415636"/>
            <a:ext cx="12324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FFA50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TodoRepository</a:t>
            </a:r>
            <a:endParaRPr lang="en-US" sz="980" dirty="0"/>
          </a:p>
        </p:txBody>
      </p:sp>
      <p:sp>
        <p:nvSpPr>
          <p:cNvPr id="75" name="Text 51"/>
          <p:cNvSpPr/>
          <p:nvPr/>
        </p:nvSpPr>
        <p:spPr>
          <a:xfrm>
            <a:off x="9952278" y="2415635"/>
            <a:ext cx="6162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90EE9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extends</a:t>
            </a:r>
            <a:endParaRPr lang="en-US" sz="980" dirty="0"/>
          </a:p>
        </p:txBody>
      </p:sp>
      <p:sp>
        <p:nvSpPr>
          <p:cNvPr id="76" name="Text 52"/>
          <p:cNvSpPr/>
          <p:nvPr/>
        </p:nvSpPr>
        <p:spPr>
          <a:xfrm>
            <a:off x="10392414" y="2415635"/>
            <a:ext cx="1540521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JpaRepository&lt;Todo, Long&gt; {</a:t>
            </a:r>
            <a:endParaRPr lang="en-US" sz="980" dirty="0"/>
          </a:p>
        </p:txBody>
      </p:sp>
      <p:sp>
        <p:nvSpPr>
          <p:cNvPr id="77" name="Text 53"/>
          <p:cNvSpPr/>
          <p:nvPr/>
        </p:nvSpPr>
        <p:spPr>
          <a:xfrm>
            <a:off x="8587829" y="2592586"/>
            <a:ext cx="5281642" cy="1765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70"/>
              </a:lnSpc>
            </a:pPr>
            <a:r>
              <a:rPr lang="en-US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// Spring Data JPA automatically provides methods CRUD</a:t>
            </a:r>
            <a:endParaRPr lang="en-US" sz="980" dirty="0"/>
          </a:p>
        </p:txBody>
      </p:sp>
      <p:sp>
        <p:nvSpPr>
          <p:cNvPr id="78" name="Text 54"/>
          <p:cNvSpPr/>
          <p:nvPr/>
        </p:nvSpPr>
        <p:spPr>
          <a:xfrm>
            <a:off x="8587829" y="2779216"/>
            <a:ext cx="36091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// todoRepository.findAll() -&gt; Repository</a:t>
            </a:r>
            <a:endParaRPr lang="en-US" sz="980" dirty="0"/>
          </a:p>
        </p:txBody>
      </p:sp>
      <p:sp>
        <p:nvSpPr>
          <p:cNvPr id="79" name="Text 55"/>
          <p:cNvSpPr/>
          <p:nvPr/>
        </p:nvSpPr>
        <p:spPr>
          <a:xfrm>
            <a:off x="8587829" y="2965847"/>
            <a:ext cx="3345106" cy="177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ru-RU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// </a:t>
            </a:r>
            <a:r>
              <a:rPr lang="en-US" sz="980" dirty="0">
                <a:solidFill>
                  <a:srgbClr val="71809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Database Interaction</a:t>
            </a:r>
            <a:endParaRPr lang="en-US" sz="980" dirty="0"/>
          </a:p>
        </p:txBody>
      </p:sp>
      <p:sp>
        <p:nvSpPr>
          <p:cNvPr id="80" name="Text 56"/>
          <p:cNvSpPr/>
          <p:nvPr/>
        </p:nvSpPr>
        <p:spPr>
          <a:xfrm>
            <a:off x="8599259" y="3182408"/>
            <a:ext cx="880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470"/>
              </a:lnSpc>
              <a:buNone/>
            </a:pPr>
            <a:r>
              <a:rPr lang="en-US" sz="98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}</a:t>
            </a:r>
            <a:endParaRPr lang="en-US" sz="980" dirty="0"/>
          </a:p>
        </p:txBody>
      </p:sp>
      <p:sp>
        <p:nvSpPr>
          <p:cNvPr id="81" name="Text 57"/>
          <p:cNvSpPr/>
          <p:nvPr/>
        </p:nvSpPr>
        <p:spPr>
          <a:xfrm>
            <a:off x="1104900" y="5581650"/>
            <a:ext cx="2803059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Балансировка нагрузки</a:t>
            </a:r>
            <a:endParaRPr lang="en-US" sz="1380" dirty="0"/>
          </a:p>
        </p:txBody>
      </p:sp>
      <p:sp>
        <p:nvSpPr>
          <p:cNvPr id="82" name="Text 58"/>
          <p:cNvSpPr/>
          <p:nvPr/>
        </p:nvSpPr>
        <p:spPr>
          <a:xfrm>
            <a:off x="952500" y="5981700"/>
            <a:ext cx="1179046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HTTP-</a:t>
            </a: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запрос</a:t>
            </a:r>
            <a:endParaRPr lang="en-US" sz="1120" dirty="0"/>
          </a:p>
        </p:txBody>
      </p:sp>
      <p:sp>
        <p:nvSpPr>
          <p:cNvPr id="83" name="Text 59"/>
          <p:cNvSpPr/>
          <p:nvPr/>
        </p:nvSpPr>
        <p:spPr>
          <a:xfrm>
            <a:off x="5092898" y="5981700"/>
            <a:ext cx="1265977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Бизнес-логика</a:t>
            </a:r>
            <a:endParaRPr lang="en-US" sz="1120" dirty="0"/>
          </a:p>
        </p:txBody>
      </p:sp>
      <p:sp>
        <p:nvSpPr>
          <p:cNvPr id="84" name="Text 60"/>
          <p:cNvSpPr/>
          <p:nvPr/>
        </p:nvSpPr>
        <p:spPr>
          <a:xfrm>
            <a:off x="9312325" y="5981700"/>
            <a:ext cx="2329279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Доступ к базе данных</a:t>
            </a:r>
            <a:endParaRPr lang="en-US" sz="11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61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385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619250"/>
            <a:ext cx="2286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095500"/>
            <a:ext cx="3555950" cy="1104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2247900"/>
            <a:ext cx="14287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17950" y="2095500"/>
            <a:ext cx="3555950" cy="1104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70350" y="2247900"/>
            <a:ext cx="219075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26301" y="2095500"/>
            <a:ext cx="3556099" cy="1104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78701" y="2247900"/>
            <a:ext cx="219075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3448050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3924300"/>
            <a:ext cx="5410200" cy="1104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2000" y="4076700"/>
            <a:ext cx="190500" cy="266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72200" y="3924300"/>
            <a:ext cx="5410200" cy="11049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24600" y="4076700"/>
            <a:ext cx="142875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" y="5334000"/>
            <a:ext cx="10972800" cy="1104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5775" y="5562600"/>
            <a:ext cx="238125" cy="1905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158" b="1" dirty="0">
                <a:solidFill>
                  <a:srgbClr val="FFFFFF"/>
                </a:solidFill>
                <a:ea typeface="ui-sans-serif" pitchFamily="34" charset="-122"/>
              </a:rPr>
              <a:t>Pros and Cons</a:t>
            </a:r>
            <a:endParaRPr lang="en-US" sz="3158" dirty="0"/>
          </a:p>
        </p:txBody>
      </p:sp>
      <p:sp>
        <p:nvSpPr>
          <p:cNvPr id="21" name="Text 1"/>
          <p:cNvSpPr/>
          <p:nvPr/>
        </p:nvSpPr>
        <p:spPr>
          <a:xfrm>
            <a:off x="60960" y="990600"/>
            <a:ext cx="12070080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lang="ru-RU" sz="1646" dirty="0">
                <a:solidFill>
                  <a:srgbClr val="D1D5DB"/>
                </a:solidFill>
                <a:ea typeface="ui-sans-serif" pitchFamily="34" charset="-122"/>
              </a:rPr>
              <a:t>Критический анализ Spring Boot</a:t>
            </a:r>
          </a:p>
        </p:txBody>
      </p:sp>
      <p:sp>
        <p:nvSpPr>
          <p:cNvPr id="22" name="Text 2"/>
          <p:cNvSpPr/>
          <p:nvPr/>
        </p:nvSpPr>
        <p:spPr>
          <a:xfrm>
            <a:off x="952500" y="1600200"/>
            <a:ext cx="1860575" cy="32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ru-RU" sz="2040" b="1" dirty="0">
                <a:solidFill>
                  <a:srgbClr val="4ADE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Преимущества</a:t>
            </a:r>
            <a:endParaRPr lang="en-US" sz="2040" dirty="0"/>
          </a:p>
        </p:txBody>
      </p:sp>
      <p:sp>
        <p:nvSpPr>
          <p:cNvPr id="23" name="Text 3"/>
          <p:cNvSpPr/>
          <p:nvPr/>
        </p:nvSpPr>
        <p:spPr>
          <a:xfrm>
            <a:off x="981075" y="2247900"/>
            <a:ext cx="2694191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86EFA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Быстрое развитие</a:t>
            </a:r>
            <a:endParaRPr lang="en-US" sz="1380" dirty="0"/>
          </a:p>
        </p:txBody>
      </p:sp>
      <p:sp>
        <p:nvSpPr>
          <p:cNvPr id="24" name="Text 4"/>
          <p:cNvSpPr/>
          <p:nvPr/>
        </p:nvSpPr>
        <p:spPr>
          <a:xfrm>
            <a:off x="762000" y="2590800"/>
            <a:ext cx="3251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Сокращает объем шаблонной конфигурации и ускоряет цикл разработки.</a:t>
            </a:r>
            <a:endParaRPr lang="en-US" sz="1120" dirty="0"/>
          </a:p>
        </p:txBody>
      </p:sp>
      <p:sp>
        <p:nvSpPr>
          <p:cNvPr id="25" name="Text 5"/>
          <p:cNvSpPr/>
          <p:nvPr/>
        </p:nvSpPr>
        <p:spPr>
          <a:xfrm>
            <a:off x="4765625" y="2247900"/>
            <a:ext cx="2248406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86EFA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Экосистема </a:t>
            </a:r>
            <a:r>
              <a:rPr lang="en-US" sz="1380" b="1" dirty="0">
                <a:solidFill>
                  <a:srgbClr val="86EFA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</a:t>
            </a:r>
            <a:endParaRPr lang="en-US" sz="1380" dirty="0"/>
          </a:p>
        </p:txBody>
      </p:sp>
      <p:sp>
        <p:nvSpPr>
          <p:cNvPr id="26" name="Text 6"/>
          <p:cNvSpPr/>
          <p:nvPr/>
        </p:nvSpPr>
        <p:spPr>
          <a:xfrm>
            <a:off x="4470350" y="2590800"/>
            <a:ext cx="3251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Использует множество доступных модулей и расширений.</a:t>
            </a:r>
            <a:endParaRPr lang="en-US" sz="1120" dirty="0"/>
          </a:p>
        </p:txBody>
      </p:sp>
      <p:sp>
        <p:nvSpPr>
          <p:cNvPr id="27" name="Text 7"/>
          <p:cNvSpPr/>
          <p:nvPr/>
        </p:nvSpPr>
        <p:spPr>
          <a:xfrm>
            <a:off x="8473976" y="2247900"/>
            <a:ext cx="3141777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86EFA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Поддержка </a:t>
            </a:r>
            <a:r>
              <a:rPr lang="ru-RU" sz="1380" b="1" dirty="0" err="1">
                <a:solidFill>
                  <a:srgbClr val="86EFA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микросервисов</a:t>
            </a:r>
            <a:endParaRPr lang="en-US" sz="1380" dirty="0"/>
          </a:p>
        </p:txBody>
      </p:sp>
      <p:sp>
        <p:nvSpPr>
          <p:cNvPr id="28" name="Text 8"/>
          <p:cNvSpPr/>
          <p:nvPr/>
        </p:nvSpPr>
        <p:spPr>
          <a:xfrm>
            <a:off x="8178701" y="2590800"/>
            <a:ext cx="32512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Облегчает создание и развертывание распределенных приложений.</a:t>
            </a:r>
            <a:endParaRPr lang="en-US" sz="1120" dirty="0"/>
          </a:p>
        </p:txBody>
      </p:sp>
      <p:sp>
        <p:nvSpPr>
          <p:cNvPr id="29" name="Text 9"/>
          <p:cNvSpPr/>
          <p:nvPr/>
        </p:nvSpPr>
        <p:spPr>
          <a:xfrm>
            <a:off x="952500" y="3429000"/>
            <a:ext cx="2490698" cy="32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ru-RU" sz="2040" b="1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Недостатки</a:t>
            </a:r>
            <a:endParaRPr lang="en-US" sz="2040" dirty="0"/>
          </a:p>
        </p:txBody>
      </p:sp>
      <p:sp>
        <p:nvSpPr>
          <p:cNvPr id="30" name="Text 10"/>
          <p:cNvSpPr/>
          <p:nvPr/>
        </p:nvSpPr>
        <p:spPr>
          <a:xfrm>
            <a:off x="1028700" y="4076700"/>
            <a:ext cx="2148870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FDBA7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Излишняя «магия»</a:t>
            </a:r>
            <a:endParaRPr lang="en-US" sz="1380" dirty="0"/>
          </a:p>
        </p:txBody>
      </p:sp>
      <p:sp>
        <p:nvSpPr>
          <p:cNvPr id="31" name="Text 11"/>
          <p:cNvSpPr/>
          <p:nvPr/>
        </p:nvSpPr>
        <p:spPr>
          <a:xfrm>
            <a:off x="762000" y="4419600"/>
            <a:ext cx="5105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Автоматическая настройка может скрыть реальную сложность и затруднить отладку.</a:t>
            </a:r>
            <a:endParaRPr lang="en-US" sz="1120" dirty="0"/>
          </a:p>
        </p:txBody>
      </p:sp>
      <p:sp>
        <p:nvSpPr>
          <p:cNvPr id="32" name="Text 12"/>
          <p:cNvSpPr/>
          <p:nvPr/>
        </p:nvSpPr>
        <p:spPr>
          <a:xfrm>
            <a:off x="6543674" y="4076700"/>
            <a:ext cx="3209925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FDBA7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Окончательный размер </a:t>
            </a:r>
            <a:r>
              <a:rPr lang="en-US" sz="1380" b="1" dirty="0">
                <a:solidFill>
                  <a:srgbClr val="FDBA7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JAR-</a:t>
            </a:r>
            <a:r>
              <a:rPr lang="ru-RU" sz="1380" b="1" dirty="0">
                <a:solidFill>
                  <a:srgbClr val="FDBA7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файла</a:t>
            </a:r>
            <a:endParaRPr lang="en-US" sz="1380" dirty="0"/>
          </a:p>
        </p:txBody>
      </p:sp>
      <p:sp>
        <p:nvSpPr>
          <p:cNvPr id="33" name="Text 13"/>
          <p:cNvSpPr/>
          <p:nvPr/>
        </p:nvSpPr>
        <p:spPr>
          <a:xfrm>
            <a:off x="6324600" y="4419600"/>
            <a:ext cx="5105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Упаковка со встроенным сервером может привести к увеличению размера JAR-файлов.</a:t>
            </a:r>
            <a:endParaRPr lang="en-US" sz="1120" dirty="0"/>
          </a:p>
        </p:txBody>
      </p:sp>
      <p:sp>
        <p:nvSpPr>
          <p:cNvPr id="34" name="Text 14"/>
          <p:cNvSpPr/>
          <p:nvPr/>
        </p:nvSpPr>
        <p:spPr>
          <a:xfrm>
            <a:off x="762000" y="5486400"/>
            <a:ext cx="10668000" cy="5179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38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идеально подходит для проектов, где приоритетами являются скорость разработки и простота настройки, но его возможности следует тщательно продумать для критически важных приложений, где важны размер двоичного файла и детальная конфигурация.</a:t>
            </a:r>
            <a:endParaRPr lang="en-US" sz="13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600200"/>
            <a:ext cx="3454301" cy="3581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5750" y="1828800"/>
            <a:ext cx="762000" cy="762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8163" y="2019300"/>
            <a:ext cx="257175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" y="38862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98" y="4236983"/>
            <a:ext cx="2997101" cy="723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" y="4400550"/>
            <a:ext cx="123825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6175" y="4591050"/>
            <a:ext cx="123825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68701" y="1600200"/>
            <a:ext cx="3454450" cy="3581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4851" y="1828800"/>
            <a:ext cx="762000" cy="762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24401" y="2019300"/>
            <a:ext cx="342900" cy="381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97301" y="320040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97301" y="35433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97301" y="38862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97301" y="4400550"/>
            <a:ext cx="123825" cy="1333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60587" y="4779051"/>
            <a:ext cx="123825" cy="13335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27950" y="1600200"/>
            <a:ext cx="3454301" cy="3581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74101" y="1828800"/>
            <a:ext cx="762000" cy="7620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59838" y="2019300"/>
            <a:ext cx="390525" cy="3810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56550" y="320040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56550" y="3543300"/>
            <a:ext cx="1524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56550" y="3886200"/>
            <a:ext cx="1524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6550" y="4400550"/>
            <a:ext cx="123825" cy="1333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0" y="4581525"/>
            <a:ext cx="123825" cy="1333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9600" y="5410200"/>
            <a:ext cx="10972800" cy="4953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74193" y="5553075"/>
            <a:ext cx="133350" cy="171450"/>
          </a:xfrm>
          <a:prstGeom prst="rect">
            <a:avLst/>
          </a:prstGeom>
        </p:spPr>
      </p:pic>
      <p:sp>
        <p:nvSpPr>
          <p:cNvPr id="35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158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Real-world Applications</a:t>
            </a:r>
            <a:endParaRPr lang="en-US" sz="3158" dirty="0"/>
          </a:p>
        </p:txBody>
      </p:sp>
      <p:sp>
        <p:nvSpPr>
          <p:cNvPr id="36" name="Text 1"/>
          <p:cNvSpPr/>
          <p:nvPr/>
        </p:nvSpPr>
        <p:spPr>
          <a:xfrm>
            <a:off x="60960" y="990600"/>
            <a:ext cx="12070080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ru-RU" sz="1646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Конкретные применения </a:t>
            </a:r>
            <a:r>
              <a:rPr lang="en-US" sz="1646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</a:t>
            </a:r>
            <a:endParaRPr lang="en-US" sz="1646" dirty="0"/>
          </a:p>
        </p:txBody>
      </p:sp>
      <p:sp>
        <p:nvSpPr>
          <p:cNvPr id="37" name="Text 2"/>
          <p:cNvSpPr/>
          <p:nvPr/>
        </p:nvSpPr>
        <p:spPr>
          <a:xfrm>
            <a:off x="887462" y="2705100"/>
            <a:ext cx="3188271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ru-RU" sz="1646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Корпоративные системы</a:t>
            </a:r>
            <a:endParaRPr lang="en-US" sz="1646" dirty="0"/>
          </a:p>
        </p:txBody>
      </p:sp>
      <p:sp>
        <p:nvSpPr>
          <p:cNvPr id="38" name="Text 3"/>
          <p:cNvSpPr/>
          <p:nvPr/>
        </p:nvSpPr>
        <p:spPr>
          <a:xfrm>
            <a:off x="1066800" y="3162300"/>
            <a:ext cx="2936483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Надежные и масштабируемые приложения</a:t>
            </a:r>
            <a:endParaRPr lang="en-US" sz="1120" dirty="0"/>
          </a:p>
        </p:txBody>
      </p:sp>
      <p:sp>
        <p:nvSpPr>
          <p:cNvPr id="39" name="Text 4"/>
          <p:cNvSpPr/>
          <p:nvPr/>
        </p:nvSpPr>
        <p:spPr>
          <a:xfrm>
            <a:off x="1066800" y="3505200"/>
            <a:ext cx="2621831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Комплексное управление данными</a:t>
            </a:r>
            <a:endParaRPr lang="en-US" sz="1120" dirty="0"/>
          </a:p>
        </p:txBody>
      </p:sp>
      <p:sp>
        <p:nvSpPr>
          <p:cNvPr id="40" name="Text 5"/>
          <p:cNvSpPr/>
          <p:nvPr/>
        </p:nvSpPr>
        <p:spPr>
          <a:xfrm>
            <a:off x="1066800" y="3848100"/>
            <a:ext cx="2960385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Интеграция с другими системами</a:t>
            </a:r>
            <a:endParaRPr lang="en-US" sz="1120" dirty="0"/>
          </a:p>
        </p:txBody>
      </p:sp>
      <p:sp>
        <p:nvSpPr>
          <p:cNvPr id="41" name="Text 6"/>
          <p:cNvSpPr/>
          <p:nvPr/>
        </p:nvSpPr>
        <p:spPr>
          <a:xfrm>
            <a:off x="983046" y="4355083"/>
            <a:ext cx="2997101" cy="562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500"/>
              </a:lnSpc>
            </a:pPr>
            <a:r>
              <a:rPr lang="en-US" sz="980" i="1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</a:t>
            </a:r>
            <a:r>
              <a:rPr lang="ru-RU" sz="980" i="1" dirty="0">
                <a:solidFill>
                  <a:srgbClr val="9CA3AF"/>
                </a:solidFill>
                <a:ea typeface="ui-sans-serif" pitchFamily="34" charset="-122"/>
              </a:rPr>
              <a:t>идеально подходит для создания надежных и масштабируемых корпоративных приложений</a:t>
            </a:r>
          </a:p>
          <a:p>
            <a:pPr>
              <a:lnSpc>
                <a:spcPts val="1500"/>
              </a:lnSpc>
            </a:pPr>
            <a:endParaRPr lang="en-US" sz="980" dirty="0"/>
          </a:p>
        </p:txBody>
      </p:sp>
      <p:sp>
        <p:nvSpPr>
          <p:cNvPr id="42" name="Text 7"/>
          <p:cNvSpPr/>
          <p:nvPr/>
        </p:nvSpPr>
        <p:spPr>
          <a:xfrm>
            <a:off x="5514975" y="2705100"/>
            <a:ext cx="127809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API REST</a:t>
            </a:r>
            <a:endParaRPr lang="en-US" sz="1646" dirty="0"/>
          </a:p>
        </p:txBody>
      </p:sp>
      <p:sp>
        <p:nvSpPr>
          <p:cNvPr id="43" name="Text 8"/>
          <p:cNvSpPr/>
          <p:nvPr/>
        </p:nvSpPr>
        <p:spPr>
          <a:xfrm>
            <a:off x="4825901" y="3162300"/>
            <a:ext cx="261640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Высокопроизводительные веб-сервисы</a:t>
            </a:r>
            <a:endParaRPr lang="en-US" sz="1120" dirty="0"/>
          </a:p>
        </p:txBody>
      </p:sp>
      <p:sp>
        <p:nvSpPr>
          <p:cNvPr id="44" name="Text 9"/>
          <p:cNvSpPr/>
          <p:nvPr/>
        </p:nvSpPr>
        <p:spPr>
          <a:xfrm>
            <a:off x="4825901" y="3505200"/>
            <a:ext cx="2685514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Простой и удобный интерфейс</a:t>
            </a:r>
            <a:endParaRPr lang="en-US" sz="1120" dirty="0"/>
          </a:p>
        </p:txBody>
      </p:sp>
      <p:sp>
        <p:nvSpPr>
          <p:cNvPr id="45" name="Text 10"/>
          <p:cNvSpPr/>
          <p:nvPr/>
        </p:nvSpPr>
        <p:spPr>
          <a:xfrm>
            <a:off x="4825901" y="3848100"/>
            <a:ext cx="2893918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Удобство использования для клиентов</a:t>
            </a:r>
            <a:endParaRPr lang="en-US" sz="1120" dirty="0"/>
          </a:p>
        </p:txBody>
      </p:sp>
      <p:sp>
        <p:nvSpPr>
          <p:cNvPr id="46" name="Text 11"/>
          <p:cNvSpPr/>
          <p:nvPr/>
        </p:nvSpPr>
        <p:spPr>
          <a:xfrm>
            <a:off x="4742815" y="4363253"/>
            <a:ext cx="2997250" cy="9468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500"/>
              </a:lnSpc>
            </a:pPr>
            <a:r>
              <a:rPr lang="en-US" sz="980" i="1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</a:t>
            </a:r>
            <a:r>
              <a:rPr lang="ru-RU" sz="980" i="1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</a:t>
            </a:r>
            <a:r>
              <a:rPr lang="ru-RU" sz="980" i="1" dirty="0">
                <a:solidFill>
                  <a:srgbClr val="9CA3AF"/>
                </a:solidFill>
                <a:ea typeface="ui-sans-serif" pitchFamily="34" charset="-122"/>
              </a:rPr>
              <a:t>прощает создания высокопроизводительных, простых в обслуживании REST API</a:t>
            </a:r>
          </a:p>
          <a:p>
            <a:pPr>
              <a:lnSpc>
                <a:spcPts val="1500"/>
              </a:lnSpc>
            </a:pPr>
            <a:endParaRPr lang="en-US" sz="980" i="1" dirty="0">
              <a:solidFill>
                <a:srgbClr val="9CA3AF"/>
              </a:solidFill>
              <a:latin typeface="ui-sans-serif" pitchFamily="34" charset="0"/>
              <a:ea typeface="ui-sans-serif" pitchFamily="34" charset="-122"/>
            </a:endParaRPr>
          </a:p>
          <a:p>
            <a:pPr marL="0" indent="0">
              <a:lnSpc>
                <a:spcPts val="1500"/>
              </a:lnSpc>
              <a:buNone/>
            </a:pPr>
            <a:endParaRPr lang="en-US" sz="980" dirty="0"/>
          </a:p>
        </p:txBody>
      </p:sp>
      <p:sp>
        <p:nvSpPr>
          <p:cNvPr id="47" name="Text 12"/>
          <p:cNvSpPr/>
          <p:nvPr/>
        </p:nvSpPr>
        <p:spPr>
          <a:xfrm>
            <a:off x="8970615" y="2705100"/>
            <a:ext cx="19458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Microservices</a:t>
            </a:r>
            <a:endParaRPr lang="en-US" sz="1646" dirty="0"/>
          </a:p>
        </p:txBody>
      </p:sp>
      <p:sp>
        <p:nvSpPr>
          <p:cNvPr id="48" name="Text 13"/>
          <p:cNvSpPr/>
          <p:nvPr/>
        </p:nvSpPr>
        <p:spPr>
          <a:xfrm>
            <a:off x="8585150" y="3162300"/>
            <a:ext cx="169359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Распределённые системы</a:t>
            </a:r>
            <a:endParaRPr lang="en-US" sz="1120" dirty="0"/>
          </a:p>
        </p:txBody>
      </p:sp>
      <p:sp>
        <p:nvSpPr>
          <p:cNvPr id="49" name="Text 14"/>
          <p:cNvSpPr/>
          <p:nvPr/>
        </p:nvSpPr>
        <p:spPr>
          <a:xfrm>
            <a:off x="8585150" y="3505200"/>
            <a:ext cx="2657192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Небольшие независимые сервисы</a:t>
            </a:r>
            <a:endParaRPr lang="en-US" sz="1120" dirty="0"/>
          </a:p>
        </p:txBody>
      </p:sp>
      <p:sp>
        <p:nvSpPr>
          <p:cNvPr id="50" name="Text 15"/>
          <p:cNvSpPr/>
          <p:nvPr/>
        </p:nvSpPr>
        <p:spPr>
          <a:xfrm>
            <a:off x="8585150" y="3848100"/>
            <a:ext cx="2609880" cy="2110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Взаимодействие через простые </a:t>
            </a:r>
            <a:r>
              <a:rPr lang="en-US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API</a:t>
            </a:r>
            <a:endParaRPr lang="en-US" sz="1120" dirty="0"/>
          </a:p>
        </p:txBody>
      </p:sp>
      <p:sp>
        <p:nvSpPr>
          <p:cNvPr id="51" name="Text 16"/>
          <p:cNvSpPr/>
          <p:nvPr/>
        </p:nvSpPr>
        <p:spPr>
          <a:xfrm>
            <a:off x="8484503" y="4387248"/>
            <a:ext cx="2997101" cy="4585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980" i="1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</a:t>
            </a:r>
            <a:r>
              <a:rPr lang="en-US" sz="980" i="1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ru-RU" sz="980" i="1" dirty="0">
                <a:solidFill>
                  <a:srgbClr val="9CA3AF"/>
                </a:solidFill>
                <a:ea typeface="ui-sans-serif" pitchFamily="34" charset="-122"/>
              </a:rPr>
              <a:t>идеально подходит для построения </a:t>
            </a:r>
            <a:r>
              <a:rPr lang="ru-RU" sz="980" i="1" dirty="0" err="1">
                <a:solidFill>
                  <a:srgbClr val="9CA3AF"/>
                </a:solidFill>
                <a:ea typeface="ui-sans-serif" pitchFamily="34" charset="-122"/>
              </a:rPr>
              <a:t>микросервисов</a:t>
            </a:r>
            <a:r>
              <a:rPr lang="ru-RU" sz="980" i="1" dirty="0">
                <a:solidFill>
                  <a:srgbClr val="9CA3AF"/>
                </a:solidFill>
                <a:ea typeface="ui-sans-serif" pitchFamily="34" charset="-122"/>
              </a:rPr>
              <a:t> с упрощенной конфигурацией</a:t>
            </a:r>
          </a:p>
          <a:p>
            <a:endParaRPr lang="en-US" sz="980" i="1" dirty="0">
              <a:solidFill>
                <a:srgbClr val="9CA3AF"/>
              </a:solidFill>
              <a:latin typeface="ui-sans-serif" pitchFamily="34" charset="0"/>
              <a:ea typeface="ui-sans-serif" pitchFamily="34" charset="-122"/>
            </a:endParaRPr>
          </a:p>
        </p:txBody>
      </p:sp>
      <p:sp>
        <p:nvSpPr>
          <p:cNvPr id="52" name="Text 17"/>
          <p:cNvSpPr/>
          <p:nvPr/>
        </p:nvSpPr>
        <p:spPr>
          <a:xfrm>
            <a:off x="186690" y="5524500"/>
            <a:ext cx="11818620" cy="244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26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адаптируется к различным архитектурам приложений: от монолитов до микросервисов.</a:t>
            </a:r>
            <a:endParaRPr lang="en-US" sz="12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0772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0" y="0"/>
            <a:ext cx="2438400" cy="2438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419600"/>
            <a:ext cx="3657600" cy="3657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219200"/>
            <a:ext cx="10972800" cy="1828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33439" y="1524000"/>
            <a:ext cx="257175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352800"/>
            <a:ext cx="3505200" cy="2133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19325" y="3543300"/>
            <a:ext cx="28575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43400" y="3352800"/>
            <a:ext cx="3505200" cy="2133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72175" y="3543300"/>
            <a:ext cx="247650" cy="342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77200" y="3352800"/>
            <a:ext cx="3505200" cy="2133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86925" y="3543300"/>
            <a:ext cx="285750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5791200"/>
            <a:ext cx="10972800" cy="914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0501" y="5972175"/>
            <a:ext cx="171450" cy="2286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60960" y="457200"/>
            <a:ext cx="1207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158" b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Conclusion</a:t>
            </a:r>
            <a:endParaRPr lang="en-US" sz="3158" dirty="0"/>
          </a:p>
        </p:txBody>
      </p:sp>
      <p:sp>
        <p:nvSpPr>
          <p:cNvPr id="17" name="Text 1"/>
          <p:cNvSpPr/>
          <p:nvPr/>
        </p:nvSpPr>
        <p:spPr>
          <a:xfrm>
            <a:off x="2443014" y="1543050"/>
            <a:ext cx="8486939" cy="32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ru-RU" sz="2040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= стандарт разработки Java</a:t>
            </a:r>
            <a:endParaRPr lang="en-US" sz="2040" dirty="0"/>
          </a:p>
        </p:txBody>
      </p:sp>
      <p:sp>
        <p:nvSpPr>
          <p:cNvPr id="18" name="Text 2"/>
          <p:cNvSpPr/>
          <p:nvPr/>
        </p:nvSpPr>
        <p:spPr>
          <a:xfrm>
            <a:off x="914400" y="2057400"/>
            <a:ext cx="10363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380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зарекомендовал себя как фактический стандарт в разработке Java, предлагая непревзойденное сочетание удобства и масштабируемости.</a:t>
            </a:r>
            <a:endParaRPr lang="en-US" sz="1380" dirty="0"/>
          </a:p>
        </p:txBody>
      </p:sp>
      <p:sp>
        <p:nvSpPr>
          <p:cNvPr id="19" name="Text 3"/>
          <p:cNvSpPr/>
          <p:nvPr/>
        </p:nvSpPr>
        <p:spPr>
          <a:xfrm>
            <a:off x="888318" y="4000500"/>
            <a:ext cx="2947615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Ускоренное развитие</a:t>
            </a:r>
            <a:endParaRPr lang="en-US" sz="1380" dirty="0"/>
          </a:p>
        </p:txBody>
      </p:sp>
      <p:sp>
        <p:nvSpPr>
          <p:cNvPr id="20" name="Text 4"/>
          <p:cNvSpPr/>
          <p:nvPr/>
        </p:nvSpPr>
        <p:spPr>
          <a:xfrm>
            <a:off x="800100" y="4343400"/>
            <a:ext cx="312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Абстрагирование сложных конфигураций и предоставление разумных значений по умолчанию</a:t>
            </a:r>
            <a:endParaRPr lang="en-US" sz="1120" dirty="0"/>
          </a:p>
        </p:txBody>
      </p:sp>
      <p:sp>
        <p:nvSpPr>
          <p:cNvPr id="21" name="Text 5"/>
          <p:cNvSpPr/>
          <p:nvPr/>
        </p:nvSpPr>
        <p:spPr>
          <a:xfrm>
            <a:off x="4462009" y="4000500"/>
            <a:ext cx="3267834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Сосредоточение на бизнес-логике</a:t>
            </a:r>
            <a:endParaRPr lang="en-US" sz="1380" dirty="0"/>
          </a:p>
        </p:txBody>
      </p:sp>
      <p:sp>
        <p:nvSpPr>
          <p:cNvPr id="22" name="Text 6"/>
          <p:cNvSpPr/>
          <p:nvPr/>
        </p:nvSpPr>
        <p:spPr>
          <a:xfrm>
            <a:off x="4533900" y="4343400"/>
            <a:ext cx="31242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Позволяет разработчикам сосредоточиться на бизнес-логике, а не на конфигурации</a:t>
            </a:r>
            <a:endParaRPr lang="en-US" sz="1120" dirty="0"/>
          </a:p>
        </p:txBody>
      </p:sp>
      <p:sp>
        <p:nvSpPr>
          <p:cNvPr id="23" name="Text 7"/>
          <p:cNvSpPr/>
          <p:nvPr/>
        </p:nvSpPr>
        <p:spPr>
          <a:xfrm>
            <a:off x="8267700" y="4000500"/>
            <a:ext cx="3124200" cy="248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380" b="1" dirty="0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Веб-приложения и </a:t>
            </a:r>
            <a:r>
              <a:rPr lang="ru-RU" sz="1380" b="1" dirty="0" err="1">
                <a:solidFill>
                  <a:srgbClr val="E5E7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микросервисы</a:t>
            </a:r>
            <a:endParaRPr lang="en-US" sz="1380" dirty="0"/>
          </a:p>
        </p:txBody>
      </p:sp>
      <p:sp>
        <p:nvSpPr>
          <p:cNvPr id="24" name="Text 8"/>
          <p:cNvSpPr/>
          <p:nvPr/>
        </p:nvSpPr>
        <p:spPr>
          <a:xfrm>
            <a:off x="8267700" y="4610100"/>
            <a:ext cx="3124200" cy="441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ru-RU" sz="1120" dirty="0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Идеально подходит для разработки современных веб-приложений и </a:t>
            </a:r>
            <a:r>
              <a:rPr lang="ru-RU" sz="1120" dirty="0" err="1">
                <a:solidFill>
                  <a:srgbClr val="D1D5D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микросервисов</a:t>
            </a:r>
            <a:endParaRPr lang="en-US" sz="1120" dirty="0"/>
          </a:p>
        </p:txBody>
      </p:sp>
      <p:sp>
        <p:nvSpPr>
          <p:cNvPr id="25" name="Text 9"/>
          <p:cNvSpPr/>
          <p:nvPr/>
        </p:nvSpPr>
        <p:spPr>
          <a:xfrm>
            <a:off x="762000" y="5943600"/>
            <a:ext cx="10668000" cy="28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ru-RU" sz="1646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Spring Boot → Идеальный выбор для быстрой и надёжной разработки современных приложений</a:t>
            </a:r>
            <a:endParaRPr lang="en-US" sz="1646" dirty="0"/>
          </a:p>
        </p:txBody>
      </p:sp>
      <p:sp>
        <p:nvSpPr>
          <p:cNvPr id="26" name="Text 10"/>
          <p:cNvSpPr/>
          <p:nvPr/>
        </p:nvSpPr>
        <p:spPr>
          <a:xfrm>
            <a:off x="60960" y="7010400"/>
            <a:ext cx="12070080" cy="32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ru-RU" sz="2040" b="1" dirty="0">
                <a:solidFill>
                  <a:srgbClr val="90EE9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СПАСИБО !</a:t>
            </a:r>
            <a:endParaRPr lang="en-US" sz="2040" dirty="0"/>
          </a:p>
        </p:txBody>
      </p:sp>
      <p:sp>
        <p:nvSpPr>
          <p:cNvPr id="27" name="Text 11"/>
          <p:cNvSpPr/>
          <p:nvPr/>
        </p:nvSpPr>
        <p:spPr>
          <a:xfrm>
            <a:off x="60960" y="7353300"/>
            <a:ext cx="12070080" cy="244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ru-RU" sz="1260" dirty="0">
                <a:solidFill>
                  <a:srgbClr val="9CA3A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Вопросы ?</a:t>
            </a:r>
            <a:endParaRPr lang="en-US" sz="12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2456</TotalTime>
  <Words>1396</Words>
  <Application>Microsoft Office PowerPoint</Application>
  <PresentationFormat>Widescreen</PresentationFormat>
  <Paragraphs>280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ui-monospace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Bassel alshayeb</cp:lastModifiedBy>
  <cp:revision>54</cp:revision>
  <dcterms:created xsi:type="dcterms:W3CDTF">2025-09-23T12:17:10Z</dcterms:created>
  <dcterms:modified xsi:type="dcterms:W3CDTF">2025-11-04T05:28:54Z</dcterms:modified>
</cp:coreProperties>
</file>